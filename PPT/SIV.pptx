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6"/>
  </p:notesMasterIdLst>
  <p:sldIdLst>
    <p:sldId id="268" r:id="rId2"/>
    <p:sldId id="257" r:id="rId3"/>
    <p:sldId id="267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0" r:id="rId13"/>
    <p:sldId id="266" r:id="rId14"/>
    <p:sldId id="271" r:id="rId1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Rockwell" panose="02060603020205020403" pitchFamily="18" charset="77"/>
      <p:regular r:id="rId21"/>
      <p:bold r:id="rId22"/>
      <p:italic r:id="rId23"/>
      <p:boldItalic r:id="rId24"/>
    </p:embeddedFont>
    <p:embeddedFont>
      <p:font typeface="Rockwell Condensed" panose="02060603050405020104" pitchFamily="18" charset="77"/>
      <p:regular r:id="rId25"/>
      <p:bold r:id="rId26"/>
    </p:embeddedFont>
    <p:embeddedFont>
      <p:font typeface="Rockwell Extra Bold" panose="02060603020205020403" pitchFamily="18" charset="77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70"/>
    <p:restoredTop sz="94650"/>
  </p:normalViewPr>
  <p:slideViewPr>
    <p:cSldViewPr snapToGrid="0">
      <p:cViewPr varScale="1">
        <p:scale>
          <a:sx n="112" d="100"/>
          <a:sy n="112" d="100"/>
        </p:scale>
        <p:origin x="200" y="9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c6f75fce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c6f75fce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75fce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75fce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7479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75fce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75fce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1857f11a5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1857f11a5b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186d5563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186d55630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18937b450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18937b450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18937b450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18937b450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18ca2684c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18ca2684c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196833d42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196833d42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196833d42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196833d42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79901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196833d42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196833d42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196833d42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196833d42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1738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010210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690626" y="3224773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/>
          <p:cNvSpPr/>
          <p:nvPr/>
        </p:nvSpPr>
        <p:spPr>
          <a:xfrm>
            <a:off x="690626" y="1113584"/>
            <a:ext cx="7667244" cy="20574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0" name="Group 9"/>
          <p:cNvGrpSpPr/>
          <p:nvPr/>
        </p:nvGrpSpPr>
        <p:grpSpPr>
          <a:xfrm>
            <a:off x="7236911" y="3051692"/>
            <a:ext cx="810678" cy="810677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074167"/>
            <a:ext cx="7475220" cy="2276856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3291840"/>
            <a:ext cx="5918454" cy="802386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3/11/22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94550" y="3217001"/>
            <a:ext cx="895401" cy="480060"/>
          </a:xfrm>
        </p:spPr>
        <p:txBody>
          <a:bodyPr/>
          <a:lstStyle>
            <a:lvl1pPr>
              <a:defRPr sz="21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5938393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3/11/22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743440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688492"/>
            <a:ext cx="9144000" cy="1455008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918972"/>
            <a:ext cx="6960870" cy="264033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1" y="3765042"/>
            <a:ext cx="6789420" cy="800100"/>
          </a:xfrm>
        </p:spPr>
        <p:txBody>
          <a:bodyPr anchor="t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4704588"/>
            <a:ext cx="1983232" cy="273844"/>
          </a:xfrm>
        </p:spPr>
        <p:txBody>
          <a:bodyPr/>
          <a:lstStyle/>
          <a:p>
            <a:fld id="{1160EA64-D806-43AC-9DF2-F8C432F32B4C}" type="datetimeFigureOut">
              <a:rPr lang="en-US" smtClean="0"/>
              <a:t>3/11/22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4704588"/>
            <a:ext cx="4745736" cy="273844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673049" y="1744386"/>
            <a:ext cx="810678" cy="810677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2776" y="1879600"/>
            <a:ext cx="891224" cy="540249"/>
          </a:xfrm>
        </p:spPr>
        <p:txBody>
          <a:bodyPr/>
          <a:lstStyle>
            <a:lvl1pPr>
              <a:defRPr sz="21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5817372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386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8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3/11/22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733999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3168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3168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3/11/22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6769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3/11/22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21901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3/11/22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2675240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514350"/>
            <a:ext cx="5033772" cy="3765042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3/11/22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1361216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51435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3/11/22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4826098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3/11/22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5905128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00050"/>
            <a:ext cx="1914525" cy="42291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400050"/>
            <a:ext cx="5629275" cy="42291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3/11/22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3381477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8822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204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3/11/22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76516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://myedmondsnews.com/2018/04/live-in-edmonds-what-do-you-call-yourself/question-mark-1019820_1280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" descr="Top view of a wooden desk with a white keyboard, drawing plan and drawing compass, and pens.">
            <a:extLst>
              <a:ext uri="{FF2B5EF4-FFF2-40B4-BE49-F238E27FC236}">
                <a16:creationId xmlns:a16="http://schemas.microsoft.com/office/drawing/2014/main" id="{2AD1A933-768E-4B71-9C00-11EAF114C8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</a:blip>
          <a:srcRect l="23517" r="-1" b="15730"/>
          <a:stretch/>
        </p:blipFill>
        <p:spPr>
          <a:xfrm>
            <a:off x="1" y="0"/>
            <a:ext cx="9143999" cy="514349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ED1E22-0A1C-864C-81D2-FE22AB45D565}"/>
              </a:ext>
            </a:extLst>
          </p:cNvPr>
          <p:cNvSpPr/>
          <p:nvPr/>
        </p:nvSpPr>
        <p:spPr>
          <a:xfrm>
            <a:off x="2572219" y="526406"/>
            <a:ext cx="6461522" cy="2377574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GB" sz="6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URLNet</a:t>
            </a:r>
          </a:p>
          <a:p>
            <a:pPr algn="ctr"/>
            <a:r>
              <a:rPr lang="en-GB" sz="3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Learning a </a:t>
            </a:r>
            <a:r>
              <a:rPr lang="en-GB" sz="3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URL</a:t>
            </a:r>
            <a:r>
              <a:rPr lang="en-GB" sz="3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Representation with </a:t>
            </a:r>
            <a:r>
              <a:rPr lang="en-GB" sz="3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</a:t>
            </a:r>
            <a:r>
              <a:rPr lang="en-GB" sz="3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eep </a:t>
            </a:r>
            <a:r>
              <a:rPr lang="en-GB" sz="3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L</a:t>
            </a:r>
            <a:r>
              <a:rPr lang="en-GB" sz="3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earning for </a:t>
            </a:r>
            <a:r>
              <a:rPr lang="en-GB" sz="3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M</a:t>
            </a:r>
            <a:r>
              <a:rPr lang="en-GB" sz="3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alicious </a:t>
            </a:r>
            <a:r>
              <a:rPr lang="en-GB" sz="3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URL</a:t>
            </a:r>
            <a:r>
              <a:rPr lang="en-GB" sz="3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</a:t>
            </a:r>
            <a:r>
              <a:rPr lang="en-GB" sz="3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</a:t>
            </a:r>
            <a:r>
              <a:rPr lang="en-GB" sz="3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etection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BDA76E-E133-C64C-8EBA-12157E861C9E}"/>
              </a:ext>
            </a:extLst>
          </p:cNvPr>
          <p:cNvSpPr/>
          <p:nvPr/>
        </p:nvSpPr>
        <p:spPr>
          <a:xfrm>
            <a:off x="2474308" y="2999727"/>
            <a:ext cx="6657343" cy="23083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GB" sz="10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Hung Le, Quang Pham, Doyen Sahoo, Steven C.H. Hoi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CE4C0A-EF4F-8A4D-A046-8CC84787FD2C}"/>
              </a:ext>
            </a:extLst>
          </p:cNvPr>
          <p:cNvSpPr/>
          <p:nvPr/>
        </p:nvSpPr>
        <p:spPr>
          <a:xfrm>
            <a:off x="5201435" y="4132347"/>
            <a:ext cx="3182541" cy="69249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n-GB" sz="135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Presented By :</a:t>
            </a:r>
          </a:p>
          <a:p>
            <a:r>
              <a:rPr lang="en-GB" sz="135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Rajat Singh (2020CSZ8507)</a:t>
            </a:r>
          </a:p>
          <a:p>
            <a:r>
              <a:rPr lang="en-GB" sz="135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Purushottam Bairwa (2020MCS2464)</a:t>
            </a:r>
          </a:p>
        </p:txBody>
      </p:sp>
    </p:spTree>
    <p:extLst>
      <p:ext uri="{BB962C8B-B14F-4D97-AF65-F5344CB8AC3E}">
        <p14:creationId xmlns:p14="http://schemas.microsoft.com/office/powerpoint/2010/main" val="360269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132FD491-28F3-42E7-AEBF-A9E3C462C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4672260"/>
            <a:ext cx="342900" cy="342900"/>
            <a:chOff x="11361456" y="6195813"/>
            <a:chExt cx="548640" cy="548640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AD016B6E-F283-4CFB-9099-05C8DA6AB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2D0360E-345F-4790-B0A0-03ADC36B5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348089"/>
            <a:ext cx="7667244" cy="60512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51464"/>
            <a:ext cx="7667244" cy="1039405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1528991"/>
            <a:ext cx="7667244" cy="60512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l" defTabSz="914400">
              <a:spcBef>
                <a:spcPct val="0"/>
              </a:spcBef>
              <a:spcAft>
                <a:spcPts val="0"/>
              </a:spcAft>
            </a:pPr>
            <a:r>
              <a:rPr lang="en-US" sz="5400"/>
              <a:t>Overview</a:t>
            </a:r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02386" y="1740309"/>
            <a:ext cx="7543800" cy="288884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457200" lvl="0" indent="-182880" defTabSz="914400">
              <a:spcBef>
                <a:spcPts val="0"/>
              </a:spcBef>
              <a:spcAft>
                <a:spcPts val="0"/>
              </a:spcAft>
              <a:buSzPct val="85000"/>
              <a:buFont typeface="Wingdings" pitchFamily="2" charset="2"/>
              <a:buChar char="§"/>
            </a:pPr>
            <a:r>
              <a:rPr lang="en-US" dirty="0"/>
              <a:t>Problem in Nutshell</a:t>
            </a:r>
          </a:p>
          <a:p>
            <a:pPr marL="457200" lvl="0" indent="-182880" defTabSz="914400">
              <a:spcBef>
                <a:spcPts val="0"/>
              </a:spcBef>
              <a:spcAft>
                <a:spcPts val="0"/>
              </a:spcAft>
              <a:buSzPct val="85000"/>
              <a:buFont typeface="Wingdings" pitchFamily="2" charset="2"/>
              <a:buChar char="§"/>
            </a:pPr>
            <a:r>
              <a:rPr lang="en-US" dirty="0"/>
              <a:t>Malicious URL &amp; harm</a:t>
            </a:r>
          </a:p>
          <a:p>
            <a:pPr marL="457200" lvl="0" indent="-182880" defTabSz="914400">
              <a:spcBef>
                <a:spcPts val="0"/>
              </a:spcBef>
              <a:spcAft>
                <a:spcPts val="0"/>
              </a:spcAft>
              <a:buSzPct val="85000"/>
              <a:buFont typeface="Wingdings" pitchFamily="2" charset="2"/>
              <a:buChar char="§"/>
            </a:pPr>
            <a:r>
              <a:rPr lang="en-US" dirty="0"/>
              <a:t>Goal</a:t>
            </a:r>
          </a:p>
          <a:p>
            <a:pPr marL="457200" lvl="0" indent="-182880" defTabSz="914400">
              <a:spcBef>
                <a:spcPts val="0"/>
              </a:spcBef>
              <a:spcAft>
                <a:spcPts val="0"/>
              </a:spcAft>
              <a:buSzPct val="85000"/>
              <a:buFont typeface="Wingdings" pitchFamily="2" charset="2"/>
              <a:buChar char="§"/>
            </a:pPr>
            <a:r>
              <a:rPr lang="en-US" dirty="0"/>
              <a:t>Current Malicious </a:t>
            </a:r>
            <a:r>
              <a:rPr lang="en-US" dirty="0" err="1"/>
              <a:t>url</a:t>
            </a:r>
            <a:r>
              <a:rPr lang="en-US" dirty="0"/>
              <a:t> Det. techniques</a:t>
            </a:r>
          </a:p>
          <a:p>
            <a:pPr marL="457200" lvl="0" indent="-182880" defTabSz="914400">
              <a:spcBef>
                <a:spcPts val="0"/>
              </a:spcBef>
              <a:spcAft>
                <a:spcPts val="0"/>
              </a:spcAft>
              <a:buSzPct val="85000"/>
              <a:buFont typeface="Wingdings" pitchFamily="2" charset="2"/>
              <a:buChar char="§"/>
            </a:pPr>
            <a:r>
              <a:rPr lang="en-US" dirty="0"/>
              <a:t>Disadvantage of current techniques</a:t>
            </a:r>
          </a:p>
          <a:p>
            <a:pPr marL="457200" lvl="0" indent="-182880" defTabSz="914400">
              <a:spcBef>
                <a:spcPts val="0"/>
              </a:spcBef>
              <a:spcAft>
                <a:spcPts val="0"/>
              </a:spcAft>
              <a:buSzPct val="85000"/>
              <a:buFont typeface="Wingdings" pitchFamily="2" charset="2"/>
              <a:buChar char="§"/>
            </a:pPr>
            <a:r>
              <a:rPr lang="en-US" dirty="0"/>
              <a:t>Proposed Approach and how it works</a:t>
            </a:r>
          </a:p>
          <a:p>
            <a:pPr marL="457200" lvl="0" indent="-182880" defTabSz="914400">
              <a:spcBef>
                <a:spcPts val="0"/>
              </a:spcBef>
              <a:spcAft>
                <a:spcPts val="0"/>
              </a:spcAft>
              <a:buSzPct val="85000"/>
              <a:buFont typeface="Wingdings" pitchFamily="2" charset="2"/>
              <a:buChar char="§"/>
            </a:pPr>
            <a:r>
              <a:rPr lang="en-US" dirty="0"/>
              <a:t>Features of </a:t>
            </a:r>
            <a:r>
              <a:rPr lang="en-US" dirty="0" err="1"/>
              <a:t>url</a:t>
            </a:r>
            <a:endParaRPr lang="en-US" dirty="0"/>
          </a:p>
          <a:p>
            <a:pPr marL="457200" lvl="0" indent="-182880" defTabSz="914400">
              <a:spcBef>
                <a:spcPts val="0"/>
              </a:spcBef>
              <a:spcAft>
                <a:spcPts val="0"/>
              </a:spcAft>
              <a:buSzPct val="85000"/>
              <a:buFont typeface="Wingdings" pitchFamily="2" charset="2"/>
              <a:buChar char="§"/>
            </a:pPr>
            <a:endParaRPr lang="en-US" dirty="0"/>
          </a:p>
          <a:p>
            <a:pPr marL="0" lvl="0" indent="-182880" defTabSz="914400">
              <a:spcBef>
                <a:spcPts val="1600"/>
              </a:spcBef>
              <a:spcAft>
                <a:spcPts val="1600"/>
              </a:spcAft>
              <a:buSzPct val="85000"/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4672260"/>
            <a:ext cx="342900" cy="342900"/>
          </a:xfrm>
          <a:prstGeom prst="ellipse">
            <a:avLst/>
          </a:prstGeom>
          <a:blipFill dpi="0" rotWithShape="1"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4694155"/>
            <a:ext cx="299110" cy="299111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in nutshell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FEBE8-3FDF-3C49-8FD2-C912E6621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900" y="1489824"/>
            <a:ext cx="8368200" cy="238042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URL features to identify malicious Websites and links</a:t>
            </a:r>
          </a:p>
          <a:p>
            <a:pPr lvl="1"/>
            <a:r>
              <a:rPr lang="en-US" dirty="0"/>
              <a:t>Without using </a:t>
            </a:r>
            <a:r>
              <a:rPr lang="en-US" dirty="0">
                <a:solidFill>
                  <a:srgbClr val="00B0F0"/>
                </a:solidFill>
              </a:rPr>
              <a:t>context</a:t>
            </a:r>
            <a:r>
              <a:rPr lang="en-US" dirty="0"/>
              <a:t> and </a:t>
            </a:r>
            <a:r>
              <a:rPr lang="en-US" dirty="0">
                <a:solidFill>
                  <a:srgbClr val="00B0F0"/>
                </a:solidFill>
              </a:rPr>
              <a:t>content</a:t>
            </a:r>
            <a:r>
              <a:rPr lang="en-US" dirty="0"/>
              <a:t> inside the link.</a:t>
            </a:r>
          </a:p>
          <a:p>
            <a:pPr lvl="1"/>
            <a:endParaRPr lang="en-US" dirty="0"/>
          </a:p>
          <a:p>
            <a:r>
              <a:rPr lang="en-US" dirty="0"/>
              <a:t>Different classes of URLs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Benign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Spam, Phishing, Scam</a:t>
            </a:r>
            <a:r>
              <a:rPr lang="en-US" dirty="0"/>
              <a:t> etc.</a:t>
            </a:r>
          </a:p>
          <a:p>
            <a:pPr lvl="1"/>
            <a:r>
              <a:rPr lang="en-US" dirty="0"/>
              <a:t>For now, distinguish between </a:t>
            </a:r>
            <a:r>
              <a:rPr lang="en-US" dirty="0">
                <a:solidFill>
                  <a:srgbClr val="00B050"/>
                </a:solidFill>
              </a:rPr>
              <a:t>Benign</a:t>
            </a:r>
            <a:r>
              <a:rPr lang="en-US" dirty="0"/>
              <a:t> vs </a:t>
            </a:r>
            <a:r>
              <a:rPr lang="en-US" dirty="0">
                <a:solidFill>
                  <a:srgbClr val="FF0000"/>
                </a:solidFill>
              </a:rPr>
              <a:t>Malicious</a:t>
            </a:r>
            <a:r>
              <a:rPr lang="en-US" dirty="0"/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55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, email, website&#10;&#10;Description automatically generated">
            <a:extLst>
              <a:ext uri="{FF2B5EF4-FFF2-40B4-BE49-F238E27FC236}">
                <a16:creationId xmlns:a16="http://schemas.microsoft.com/office/drawing/2014/main" id="{E4D88596-945A-9648-B92B-BC4DA63DD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20" y="511545"/>
            <a:ext cx="3970080" cy="2280114"/>
          </a:xfrm>
          <a:prstGeom prst="rect">
            <a:avLst/>
          </a:prstGeom>
        </p:spPr>
      </p:pic>
      <p:pic>
        <p:nvPicPr>
          <p:cNvPr id="7" name="Picture 6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0275607A-1D9F-1042-A39E-AF985EF6C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433" y="2159592"/>
            <a:ext cx="4085596" cy="220891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04A522-84E3-3A48-B799-7C072EC3D931}"/>
              </a:ext>
            </a:extLst>
          </p:cNvPr>
          <p:cNvSpPr/>
          <p:nvPr/>
        </p:nvSpPr>
        <p:spPr>
          <a:xfrm rot="19723103">
            <a:off x="4788152" y="2944070"/>
            <a:ext cx="24384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Malicious</a:t>
            </a:r>
            <a:endParaRPr lang="en-GB" sz="40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5C3E7-2141-CB4B-AF74-81F79116E081}"/>
              </a:ext>
            </a:extLst>
          </p:cNvPr>
          <p:cNvSpPr txBox="1"/>
          <p:nvPr/>
        </p:nvSpPr>
        <p:spPr>
          <a:xfrm>
            <a:off x="3712251" y="4897279"/>
            <a:ext cx="21387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Image Source : </a:t>
            </a:r>
            <a:r>
              <a:rPr lang="en-US" sz="1000" dirty="0" err="1"/>
              <a:t>www.google.com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40210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Malicious </a:t>
            </a:r>
            <a:r>
              <a:rPr lang="en" dirty="0" err="1"/>
              <a:t>url</a:t>
            </a:r>
            <a:r>
              <a:rPr lang="en" dirty="0"/>
              <a:t> and what they can do?</a:t>
            </a:r>
            <a:endParaRPr dirty="0"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" dirty="0"/>
              <a:t>Malicious URL is a clickable link that leads users to a malicious or fraudulent webpage .</a:t>
            </a:r>
            <a:endParaRPr dirty="0"/>
          </a:p>
          <a:p>
            <a:pPr marL="285750" indent="-285750">
              <a:spcBef>
                <a:spcPts val="1600"/>
              </a:spcBef>
            </a:pPr>
            <a:r>
              <a:rPr lang="en" dirty="0"/>
              <a:t>By clicking on such type of URL user can expose their system to various threats such as virus, trojans, ransomware and many other types of malwares.</a:t>
            </a:r>
            <a:endParaRPr dirty="0"/>
          </a:p>
          <a:p>
            <a:pPr marL="285750" indent="-285750">
              <a:spcBef>
                <a:spcPts val="1600"/>
              </a:spcBef>
            </a:pPr>
            <a:r>
              <a:rPr lang="en" dirty="0"/>
              <a:t>The potential harm is so big that malicious links are considered one of the biggest threats to the digital world.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2670" y="4138774"/>
            <a:ext cx="2076525" cy="859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Recently several efforts to perform malicious url detection mechanism based on the machine learning algorithm.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Most of the approaches used lexical properties of URL string by extracting bag of words features but these approaches suffer from several limitations.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To address these challenges, this paper introduced URLNet.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Malicious url techniques: </a:t>
            </a: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Traditionally detection of malicious url done through usage of blacklists which can not be exhaustive.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Recently, several efforts to perform malicious url detection using machine learning.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Most popular and scalable approaches use lexical properties of url string by extracting bag of words like features followed by applying SVM.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Disadvantages of current techniques: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Current techniques are not able to capture semantic meaning and sequential patterns in url.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Not able to handle unseen features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Requiring substantial manual feature engineering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approach:</a:t>
            </a:r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-Deep learning based solution for malicious url detection.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-Character level and word level CNN’s used to detect the pattern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-Both character and word CNN’s together to remove some challenges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-This approach allow us to alleviate the shortcomings of traditional approaches.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Features:</a:t>
            </a:r>
            <a:endParaRPr dirty="0"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-Lexical features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-Blacklist features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-Host-based features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-Content features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-context &amp; popularity features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72D015-BC3B-394C-8761-5C19FC6360F6}"/>
              </a:ext>
            </a:extLst>
          </p:cNvPr>
          <p:cNvSpPr/>
          <p:nvPr/>
        </p:nvSpPr>
        <p:spPr>
          <a:xfrm>
            <a:off x="196612" y="348066"/>
            <a:ext cx="877282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GB" sz="40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URLNet</a:t>
            </a:r>
          </a:p>
        </p:txBody>
      </p:sp>
      <p:sp>
        <p:nvSpPr>
          <p:cNvPr id="6" name="Google Shape;106;p20">
            <a:extLst>
              <a:ext uri="{FF2B5EF4-FFF2-40B4-BE49-F238E27FC236}">
                <a16:creationId xmlns:a16="http://schemas.microsoft.com/office/drawing/2014/main" id="{79AF2070-9D8E-B04E-855C-FAFF00FEF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7900" y="1406697"/>
            <a:ext cx="8368200" cy="9707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Two major components of </a:t>
            </a:r>
            <a:r>
              <a:rPr lang="en-US" dirty="0" err="1"/>
              <a:t>URLNet</a:t>
            </a:r>
            <a:r>
              <a:rPr lang="en-US" dirty="0"/>
              <a:t> include: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285750" indent="-285750"/>
            <a:r>
              <a:rPr lang="en-US" dirty="0"/>
              <a:t>Character-level </a:t>
            </a:r>
            <a:r>
              <a:rPr lang="en-US" dirty="0">
                <a:solidFill>
                  <a:srgbClr val="FF0000"/>
                </a:solidFill>
              </a:rPr>
              <a:t>CNN</a:t>
            </a:r>
            <a:r>
              <a:rPr lang="en-US" dirty="0"/>
              <a:t> for Malicious URL Detection.</a:t>
            </a:r>
          </a:p>
          <a:p>
            <a:pPr marL="285750" indent="-285750"/>
            <a:r>
              <a:rPr lang="en-US" dirty="0"/>
              <a:t>Word-level </a:t>
            </a:r>
            <a:r>
              <a:rPr lang="en-US" dirty="0">
                <a:solidFill>
                  <a:srgbClr val="FF0000"/>
                </a:solidFill>
              </a:rPr>
              <a:t>CNN</a:t>
            </a:r>
            <a:r>
              <a:rPr lang="en-US" dirty="0"/>
              <a:t> for Malicious URL Detection</a:t>
            </a:r>
          </a:p>
          <a:p>
            <a:pPr marL="285750" indent="-285750"/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72D015-BC3B-394C-8761-5C19FC6360F6}"/>
              </a:ext>
            </a:extLst>
          </p:cNvPr>
          <p:cNvSpPr/>
          <p:nvPr/>
        </p:nvSpPr>
        <p:spPr>
          <a:xfrm>
            <a:off x="196612" y="348066"/>
            <a:ext cx="877282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GB" sz="40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URLNet</a:t>
            </a:r>
          </a:p>
        </p:txBody>
      </p:sp>
      <p:sp>
        <p:nvSpPr>
          <p:cNvPr id="6" name="Google Shape;106;p20">
            <a:extLst>
              <a:ext uri="{FF2B5EF4-FFF2-40B4-BE49-F238E27FC236}">
                <a16:creationId xmlns:a16="http://schemas.microsoft.com/office/drawing/2014/main" id="{79AF2070-9D8E-B04E-855C-FAFF00FEF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7900" y="1406697"/>
            <a:ext cx="8368200" cy="17022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Two major components of </a:t>
            </a:r>
            <a:r>
              <a:rPr lang="en-US" dirty="0" err="1"/>
              <a:t>URLNet</a:t>
            </a:r>
            <a:r>
              <a:rPr lang="en-US" dirty="0"/>
              <a:t> include: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285750" indent="-285750"/>
            <a:r>
              <a:rPr lang="en-US" dirty="0"/>
              <a:t>Character-level </a:t>
            </a:r>
            <a:r>
              <a:rPr lang="en-US" dirty="0">
                <a:solidFill>
                  <a:srgbClr val="FF0000"/>
                </a:solidFill>
              </a:rPr>
              <a:t>CNN</a:t>
            </a:r>
            <a:r>
              <a:rPr lang="en-US" dirty="0"/>
              <a:t> for Malicious URL Detection.</a:t>
            </a:r>
          </a:p>
          <a:p>
            <a:pPr marL="285750" indent="-285750"/>
            <a:r>
              <a:rPr lang="en-US" dirty="0"/>
              <a:t>Word-level </a:t>
            </a:r>
            <a:r>
              <a:rPr lang="en-US" dirty="0">
                <a:solidFill>
                  <a:srgbClr val="FF0000"/>
                </a:solidFill>
              </a:rPr>
              <a:t>CNN</a:t>
            </a:r>
            <a:r>
              <a:rPr lang="en-US" dirty="0"/>
              <a:t> for Malicious URL Detection</a:t>
            </a:r>
          </a:p>
          <a:p>
            <a:pPr marL="285750" indent="-285750"/>
            <a:endParaRPr lang="en-US" dirty="0"/>
          </a:p>
          <a:p>
            <a:pPr marL="285750" indent="-285750"/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What is CNN ?</a:t>
            </a:r>
          </a:p>
          <a:p>
            <a:pPr marL="285750" indent="-285750"/>
            <a:endParaRPr dirty="0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C295E034-6050-9248-AFB5-665C04FF6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234940" y="2480310"/>
            <a:ext cx="857250" cy="857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F1AE9D-39BA-6746-B1E8-F28EFFDBBCEA}"/>
              </a:ext>
            </a:extLst>
          </p:cNvPr>
          <p:cNvSpPr txBox="1"/>
          <p:nvPr/>
        </p:nvSpPr>
        <p:spPr>
          <a:xfrm>
            <a:off x="2000250" y="5143500"/>
            <a:ext cx="5143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://myedmondsnews.com/2018/04/live-in-edmonds-what-do-you-call-yourself/question-mark-1019820_1280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/3.0/"/>
              </a:rPr>
              <a:t>CC BY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798095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5;p20">
            <a:extLst>
              <a:ext uri="{FF2B5EF4-FFF2-40B4-BE49-F238E27FC236}">
                <a16:creationId xmlns:a16="http://schemas.microsoft.com/office/drawing/2014/main" id="{4667A93C-49EA-8B45-9B29-30FAF54FB1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CNN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630885-2E5C-724A-AFDF-BD4D0BDEB71A}"/>
              </a:ext>
            </a:extLst>
          </p:cNvPr>
          <p:cNvSpPr txBox="1"/>
          <p:nvPr/>
        </p:nvSpPr>
        <p:spPr>
          <a:xfrm>
            <a:off x="387900" y="1207600"/>
            <a:ext cx="7187930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CNN stands for Convolutional Neural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CNN is most commonly applied to analyze visual images.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They have applications in following domain: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Image and Video Recognition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Recommender Systems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Image </a:t>
            </a:r>
            <a:r>
              <a:rPr lang="en-US" sz="2000" dirty="0"/>
              <a:t>C</a:t>
            </a:r>
            <a:r>
              <a:rPr lang="en-US" sz="2000" dirty="0">
                <a:solidFill>
                  <a:schemeClr val="tx1"/>
                </a:solidFill>
              </a:rPr>
              <a:t>lassification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Image Segmentation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Medical Image Analysis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Natural Language Processing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Brain-computer interfaces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Financial Time series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Google Shape;105;p20">
            <a:extLst>
              <a:ext uri="{FF2B5EF4-FFF2-40B4-BE49-F238E27FC236}">
                <a16:creationId xmlns:a16="http://schemas.microsoft.com/office/drawing/2014/main" id="{4667A93C-49EA-8B45-9B29-30FAF54FB1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CNN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51621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{48A30F21-8F0B-B94D-97E2-AEFBCB789EE9}tf10001070</Template>
  <TotalTime>43</TotalTime>
  <Words>503</Words>
  <Application>Microsoft Macintosh PowerPoint</Application>
  <PresentationFormat>On-screen Show (16:9)</PresentationFormat>
  <Paragraphs>81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Rockwell Extra Bold</vt:lpstr>
      <vt:lpstr>Calibri</vt:lpstr>
      <vt:lpstr>Rockwell</vt:lpstr>
      <vt:lpstr>Arial</vt:lpstr>
      <vt:lpstr>Wingdings</vt:lpstr>
      <vt:lpstr>Rockwell Condensed</vt:lpstr>
      <vt:lpstr>Wood Type</vt:lpstr>
      <vt:lpstr>PowerPoint Presentation</vt:lpstr>
      <vt:lpstr>Overview</vt:lpstr>
      <vt:lpstr>Problem in nutshell</vt:lpstr>
      <vt:lpstr>PowerPoint Presentation</vt:lpstr>
      <vt:lpstr>Malicious url and what they can do?</vt:lpstr>
      <vt:lpstr>Goal:</vt:lpstr>
      <vt:lpstr>Malicious url techniques: </vt:lpstr>
      <vt:lpstr>Disadvantages of current techniques:</vt:lpstr>
      <vt:lpstr>Proposed approach:</vt:lpstr>
      <vt:lpstr>Features:</vt:lpstr>
      <vt:lpstr>PowerPoint Presentation</vt:lpstr>
      <vt:lpstr>PowerPoint Presentation</vt:lpstr>
      <vt:lpstr>CNN</vt:lpstr>
      <vt:lpstr>CNN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Rajat Singh</cp:lastModifiedBy>
  <cp:revision>5</cp:revision>
  <dcterms:modified xsi:type="dcterms:W3CDTF">2022-03-11T09:56:01Z</dcterms:modified>
</cp:coreProperties>
</file>