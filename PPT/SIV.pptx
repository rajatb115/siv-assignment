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8" r:id="rId1"/>
  </p:sldMasterIdLst>
  <p:notesMasterIdLst>
    <p:notesMasterId r:id="rId28"/>
  </p:notesMasterIdLst>
  <p:sldIdLst>
    <p:sldId id="268" r:id="rId2"/>
    <p:sldId id="257" r:id="rId3"/>
    <p:sldId id="267" r:id="rId4"/>
    <p:sldId id="269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70" r:id="rId13"/>
    <p:sldId id="266" r:id="rId14"/>
    <p:sldId id="271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72" r:id="rId25"/>
    <p:sldId id="282" r:id="rId26"/>
    <p:sldId id="283" r:id="rId27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29"/>
      <p:bold r:id="rId30"/>
      <p:italic r:id="rId31"/>
      <p:boldItalic r:id="rId32"/>
    </p:embeddedFont>
    <p:embeddedFont>
      <p:font typeface="Rockwell" panose="02060603020205020403" pitchFamily="18" charset="77"/>
      <p:regular r:id="rId33"/>
      <p:bold r:id="rId34"/>
      <p:italic r:id="rId35"/>
      <p:boldItalic r:id="rId36"/>
    </p:embeddedFont>
    <p:embeddedFont>
      <p:font typeface="Rockwell Condensed" panose="02060603050405020104" pitchFamily="18" charset="77"/>
      <p:regular r:id="rId37"/>
      <p:bold r:id="rId38"/>
    </p:embeddedFont>
    <p:embeddedFont>
      <p:font typeface="Rockwell Extra Bold" panose="02060603020205020403" pitchFamily="18" charset="77"/>
      <p:bold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756"/>
    <p:restoredTop sz="94684"/>
  </p:normalViewPr>
  <p:slideViewPr>
    <p:cSldViewPr snapToGrid="0">
      <p:cViewPr varScale="1">
        <p:scale>
          <a:sx n="141" d="100"/>
          <a:sy n="141" d="100"/>
        </p:scale>
        <p:origin x="560" y="1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1.fntdata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font" Target="fonts/font9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c6f75fceb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c6f75fceb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c6f75fceb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c6f75fceb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74791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c6f75fceb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c6f75fceb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11857f11a5b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11857f11a5b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1186d55630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1186d55630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18937b450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118937b450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18937b4501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18937b4501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118ca2684c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118ca2684c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1196833d42f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1196833d42f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1196833d42f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1196833d42f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79901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617383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407598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74868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948739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508574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329737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19229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46191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296438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5041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874207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776013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178482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90626" y="1010210"/>
            <a:ext cx="7667244" cy="60512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Rectangle 7"/>
          <p:cNvSpPr/>
          <p:nvPr/>
        </p:nvSpPr>
        <p:spPr>
          <a:xfrm>
            <a:off x="690626" y="3224773"/>
            <a:ext cx="7667244" cy="60512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9" name="Rectangle 8"/>
          <p:cNvSpPr/>
          <p:nvPr/>
        </p:nvSpPr>
        <p:spPr>
          <a:xfrm>
            <a:off x="690626" y="1113584"/>
            <a:ext cx="7667244" cy="20574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grpSp>
        <p:nvGrpSpPr>
          <p:cNvPr id="10" name="Group 9"/>
          <p:cNvGrpSpPr/>
          <p:nvPr/>
        </p:nvGrpSpPr>
        <p:grpSpPr>
          <a:xfrm>
            <a:off x="7236911" y="3051692"/>
            <a:ext cx="810678" cy="810677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074167"/>
            <a:ext cx="7475220" cy="2276856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72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3291840"/>
            <a:ext cx="5918454" cy="802386"/>
          </a:xfrm>
        </p:spPr>
        <p:txBody>
          <a:bodyPr>
            <a:normAutofit/>
          </a:bodyPr>
          <a:lstStyle>
            <a:lvl1pPr marL="0" indent="0" algn="l">
              <a:buNone/>
              <a:defRPr sz="1650">
                <a:solidFill>
                  <a:schemeClr val="tx1"/>
                </a:solidFill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t>3/11/22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194550" y="3217001"/>
            <a:ext cx="895401" cy="480060"/>
          </a:xfrm>
        </p:spPr>
        <p:txBody>
          <a:bodyPr/>
          <a:lstStyle>
            <a:lvl1pPr>
              <a:defRPr sz="2100"/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55938393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smtClean="0"/>
              <a:t>3/11/22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57434401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688492"/>
            <a:ext cx="9144000" cy="1455008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918972"/>
            <a:ext cx="6960870" cy="264033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0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1" y="3765042"/>
            <a:ext cx="6789420" cy="800100"/>
          </a:xfrm>
        </p:spPr>
        <p:txBody>
          <a:bodyPr anchor="t">
            <a:normAutofit/>
          </a:bodyPr>
          <a:lstStyle>
            <a:lvl1pPr marL="0" indent="0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4704588"/>
            <a:ext cx="1983232" cy="273844"/>
          </a:xfrm>
        </p:spPr>
        <p:txBody>
          <a:bodyPr/>
          <a:lstStyle/>
          <a:p>
            <a:fld id="{1160EA64-D806-43AC-9DF2-F8C432F32B4C}" type="datetimeFigureOut">
              <a:rPr lang="en-US" smtClean="0"/>
              <a:t>3/11/22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7031" y="4704588"/>
            <a:ext cx="4745736" cy="273844"/>
          </a:xfrm>
        </p:spPr>
        <p:txBody>
          <a:bodyPr/>
          <a:lstStyle/>
          <a:p>
            <a:endParaRPr lang="en-US" dirty="0"/>
          </a:p>
        </p:txBody>
      </p:sp>
      <p:grpSp>
        <p:nvGrpSpPr>
          <p:cNvPr id="8" name="Group 7"/>
          <p:cNvGrpSpPr/>
          <p:nvPr/>
        </p:nvGrpSpPr>
        <p:grpSpPr>
          <a:xfrm>
            <a:off x="673049" y="1744386"/>
            <a:ext cx="810678" cy="810677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32776" y="1879600"/>
            <a:ext cx="891224" cy="540249"/>
          </a:xfrm>
        </p:spPr>
        <p:txBody>
          <a:bodyPr/>
          <a:lstStyle>
            <a:lvl1pPr>
              <a:defRPr sz="2100"/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5817372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2386" y="1645920"/>
            <a:ext cx="3566160" cy="298323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73168" y="1645920"/>
            <a:ext cx="3566160" cy="298323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smtClean="0"/>
              <a:t>3/11/22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73399940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0100" y="1536192"/>
            <a:ext cx="3566160" cy="480060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02386" y="2057400"/>
            <a:ext cx="3566160" cy="24688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73168" y="1536192"/>
            <a:ext cx="3566160" cy="480060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73168" y="2057400"/>
            <a:ext cx="3566160" cy="24688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t>3/11/22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967698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smtClean="0"/>
              <a:t>3/11/22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219018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smtClean="0"/>
              <a:t>3/11/22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026752409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51434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514350"/>
            <a:ext cx="2400300" cy="1303020"/>
          </a:xfrm>
        </p:spPr>
        <p:txBody>
          <a:bodyPr anchor="b">
            <a:normAutofit/>
          </a:bodyPr>
          <a:lstStyle>
            <a:lvl1pPr>
              <a:defRPr sz="2400" b="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514350"/>
            <a:ext cx="5033772" cy="3765042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1817370"/>
            <a:ext cx="2400300" cy="246888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050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smtClean="0"/>
              <a:t>3/11/22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31361216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51434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514350"/>
            <a:ext cx="2400300" cy="1303020"/>
          </a:xfrm>
        </p:spPr>
        <p:txBody>
          <a:bodyPr anchor="b">
            <a:normAutofit/>
          </a:bodyPr>
          <a:lstStyle>
            <a:lvl1pPr>
              <a:defRPr sz="2400" b="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6227805" cy="514350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1817370"/>
            <a:ext cx="2400300" cy="246888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050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0DB6-F5C7-45FB-8CF3-31B45F9C2DAC}" type="datetimeFigureOut">
              <a:rPr lang="en-US" smtClean="0"/>
              <a:t>3/11/22</a:t>
            </a:fld>
            <a:endParaRPr lang="en-US" dirty="0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4826098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smtClean="0"/>
              <a:t>3/11/22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15905128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00050"/>
            <a:ext cx="1914525" cy="42291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400050"/>
            <a:ext cx="5629275" cy="42291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smtClean="0"/>
              <a:t>3/11/22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23381477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188227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02047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microsoft.com/office/2007/relationships/hdphoto" Target="../media/hdphoto1.wdp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02386" y="363474"/>
            <a:ext cx="7543800" cy="1207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2386" y="1591056"/>
            <a:ext cx="7543800" cy="30380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3318" y="4704588"/>
            <a:ext cx="245516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2"/>
                </a:solidFill>
              </a:defRPr>
            </a:lvl1pPr>
          </a:lstStyle>
          <a:p>
            <a:fld id="{1160EA64-D806-43AC-9DF2-F8C432F32B4C}" type="datetimeFigureOut">
              <a:rPr lang="en-US" smtClean="0"/>
              <a:t>3/11/22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16102" y="4704588"/>
            <a:ext cx="474573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5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4704588"/>
            <a:ext cx="48006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rgbClr val="FFFFFF"/>
                </a:solidFill>
                <a:latin typeface="+mj-lt"/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765166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  <p:sldLayoutId id="2147483700" r:id="rId12"/>
    <p:sldLayoutId id="2147483701" r:id="rId13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4050" kern="1200" cap="all" baseline="0">
          <a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microsoft.com/office/2007/relationships/hdphoto" Target="../media/hdphoto2.wdp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creativecommons.org/licenses/by/3.0/" TargetMode="External"/><Relationship Id="rId4" Type="http://schemas.openxmlformats.org/officeDocument/2006/relationships/hyperlink" Target="http://myedmondsnews.com/2018/04/live-in-edmonds-what-do-you-call-yourself/question-mark-1019820_1280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creativecommons.org/licenses/by/3.0/" TargetMode="External"/><Relationship Id="rId4" Type="http://schemas.openxmlformats.org/officeDocument/2006/relationships/hyperlink" Target="https://www.frontiersin.org/articles/10.3389/fnins.2018.00777/full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creativecommons.org/licenses/by-nc-sa/3.0/" TargetMode="External"/><Relationship Id="rId4" Type="http://schemas.openxmlformats.org/officeDocument/2006/relationships/hyperlink" Target="http://www.davidsbatista.net/blog/2018/03/31/SentenceClassificationConvNets/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creativecommons.org/licenses/by/3.0/" TargetMode="External"/><Relationship Id="rId4" Type="http://schemas.openxmlformats.org/officeDocument/2006/relationships/hyperlink" Target="https://www.frontiersin.org/articles/10.3389/fnins.2018.00777/full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" descr="Top view of a wooden desk with a white keyboard, drawing plan and drawing compass, and pens.">
            <a:extLst>
              <a:ext uri="{FF2B5EF4-FFF2-40B4-BE49-F238E27FC236}">
                <a16:creationId xmlns:a16="http://schemas.microsoft.com/office/drawing/2014/main" id="{2AD1A933-768E-4B71-9C00-11EAF114C8F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grayscl/>
          </a:blip>
          <a:srcRect l="23517" r="-1" b="15730"/>
          <a:stretch/>
        </p:blipFill>
        <p:spPr>
          <a:xfrm>
            <a:off x="1" y="0"/>
            <a:ext cx="9143999" cy="514349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CED1E22-0A1C-864C-81D2-FE22AB45D565}"/>
              </a:ext>
            </a:extLst>
          </p:cNvPr>
          <p:cNvSpPr/>
          <p:nvPr/>
        </p:nvSpPr>
        <p:spPr>
          <a:xfrm>
            <a:off x="2572219" y="526406"/>
            <a:ext cx="6461522" cy="2377574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/>
            <a:r>
              <a:rPr lang="en-GB" sz="6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URLNet</a:t>
            </a:r>
          </a:p>
          <a:p>
            <a:pPr algn="ctr"/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Learning a 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FF0000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URL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 Representation with 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FF0000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D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eep 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FF0000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L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earning for 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FF0000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M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alicious 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FF0000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URL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 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FF0000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D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etection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BDA76E-E133-C64C-8EBA-12157E861C9E}"/>
              </a:ext>
            </a:extLst>
          </p:cNvPr>
          <p:cNvSpPr/>
          <p:nvPr/>
        </p:nvSpPr>
        <p:spPr>
          <a:xfrm>
            <a:off x="2474308" y="2999727"/>
            <a:ext cx="6657343" cy="230832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/>
            <a:r>
              <a:rPr lang="en-GB" sz="105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Hung Le, Quang Pham, Doyen Sahoo, Steven C.H. Hoi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CE4C0A-EF4F-8A4D-A046-8CC84787FD2C}"/>
              </a:ext>
            </a:extLst>
          </p:cNvPr>
          <p:cNvSpPr/>
          <p:nvPr/>
        </p:nvSpPr>
        <p:spPr>
          <a:xfrm>
            <a:off x="5201435" y="4132347"/>
            <a:ext cx="3182541" cy="692497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r>
              <a:rPr lang="en-GB" sz="135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Presented By :</a:t>
            </a:r>
          </a:p>
          <a:p>
            <a:r>
              <a:rPr lang="en-GB" sz="135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Rajat Singh (2020CSZ8507)</a:t>
            </a:r>
          </a:p>
          <a:p>
            <a:r>
              <a:rPr lang="en-GB" sz="135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Purushottam Bairwa (2020MCS2464)</a:t>
            </a:r>
          </a:p>
        </p:txBody>
      </p:sp>
    </p:spTree>
    <p:extLst>
      <p:ext uri="{BB962C8B-B14F-4D97-AF65-F5344CB8AC3E}">
        <p14:creationId xmlns:p14="http://schemas.microsoft.com/office/powerpoint/2010/main" val="360269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>
            <a:extLst>
              <a:ext uri="{FF2B5EF4-FFF2-40B4-BE49-F238E27FC236}">
                <a16:creationId xmlns:a16="http://schemas.microsoft.com/office/drawing/2014/main" id="{132FD491-28F3-42E7-AEBF-A9E3C462C9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551293" y="4672260"/>
            <a:ext cx="342900" cy="342900"/>
            <a:chOff x="11361456" y="6195813"/>
            <a:chExt cx="548640" cy="548640"/>
          </a:xfrm>
        </p:grpSpPr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AD016B6E-F283-4CFB-9099-05C8DA6AB3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72D0360E-345F-4790-B0A0-03ADC36B5E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 useBgFill="1">
        <p:nvSpPr>
          <p:cNvPr id="78" name="Rectangle 77">
            <a:extLst>
              <a:ext uri="{FF2B5EF4-FFF2-40B4-BE49-F238E27FC236}">
                <a16:creationId xmlns:a16="http://schemas.microsoft.com/office/drawing/2014/main" id="{E009DD9B-5EE2-4C0D-8B2B-351C8C1022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E720DB99-7745-4E75-9D96-AAB6D55C5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8378" y="348089"/>
            <a:ext cx="7667244" cy="60512"/>
          </a:xfrm>
          <a:prstGeom prst="rect">
            <a:avLst/>
          </a:prstGeom>
          <a:blipFill dpi="0" rotWithShape="1">
            <a:blip r:embed="rId5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D68803C4-E159-4360-B7BB-74205C8F78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8378" y="451464"/>
            <a:ext cx="7667244" cy="1039405"/>
          </a:xfrm>
          <a:prstGeom prst="rect">
            <a:avLst/>
          </a:prstGeom>
          <a:blipFill dpi="0" rotWithShape="1">
            <a:blip r:embed="rId5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504B0465-3B07-49BF-BEA7-D814762462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8378" y="1528991"/>
            <a:ext cx="7667244" cy="60512"/>
          </a:xfrm>
          <a:prstGeom prst="rect">
            <a:avLst/>
          </a:prstGeom>
          <a:blipFill dpi="0" rotWithShape="1">
            <a:blip r:embed="rId5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9" name="Google Shape;69;p14"/>
          <p:cNvSpPr txBox="1">
            <a:spLocks noGrp="1"/>
          </p:cNvSpPr>
          <p:nvPr>
            <p:ph type="title"/>
          </p:nvPr>
        </p:nvSpPr>
        <p:spPr>
          <a:xfrm>
            <a:off x="802386" y="363474"/>
            <a:ext cx="7543800" cy="1207008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/>
          </a:bodyPr>
          <a:lstStyle/>
          <a:p>
            <a:pPr marL="0" lvl="0" indent="0" algn="l" defTabSz="914400">
              <a:spcBef>
                <a:spcPct val="0"/>
              </a:spcBef>
              <a:spcAft>
                <a:spcPts val="0"/>
              </a:spcAft>
            </a:pPr>
            <a:r>
              <a:rPr lang="en-US" sz="5400" dirty="0"/>
              <a:t>Overview</a:t>
            </a:r>
          </a:p>
        </p:txBody>
      </p:sp>
      <p:sp>
        <p:nvSpPr>
          <p:cNvPr id="68" name="Google Shape;68;p14"/>
          <p:cNvSpPr txBox="1">
            <a:spLocks noGrp="1"/>
          </p:cNvSpPr>
          <p:nvPr>
            <p:ph type="body" idx="2"/>
          </p:nvPr>
        </p:nvSpPr>
        <p:spPr>
          <a:xfrm>
            <a:off x="802386" y="1740309"/>
            <a:ext cx="7543800" cy="2888840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/>
          </a:bodyPr>
          <a:lstStyle/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r>
              <a:rPr lang="en-US" dirty="0"/>
              <a:t>Problem in Nutshell</a:t>
            </a:r>
          </a:p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r>
              <a:rPr lang="en-US" dirty="0"/>
              <a:t>Malicious URL &amp; harm</a:t>
            </a:r>
          </a:p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r>
              <a:rPr lang="en-US" dirty="0"/>
              <a:t>Goal</a:t>
            </a:r>
          </a:p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r>
              <a:rPr lang="en-US" dirty="0"/>
              <a:t>Current Malicious URL Det. techniques</a:t>
            </a:r>
          </a:p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r>
              <a:rPr lang="en-US" dirty="0"/>
              <a:t>Disadvantage of current techniques</a:t>
            </a:r>
          </a:p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r>
              <a:rPr lang="en-US" dirty="0"/>
              <a:t>Proposed Approach and how it works</a:t>
            </a:r>
          </a:p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r>
              <a:rPr lang="en-US" dirty="0"/>
              <a:t>Features of URL</a:t>
            </a:r>
          </a:p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endParaRPr lang="en-US" dirty="0"/>
          </a:p>
          <a:p>
            <a:pPr marL="0" lvl="0" indent="-182880" defTabSz="914400">
              <a:spcBef>
                <a:spcPts val="1600"/>
              </a:spcBef>
              <a:spcAft>
                <a:spcPts val="1600"/>
              </a:spcAft>
              <a:buSzPct val="85000"/>
              <a:buFont typeface="Wingdings" pitchFamily="2" charset="2"/>
              <a:buChar char="§"/>
            </a:pPr>
            <a:endParaRPr lang="en-US" dirty="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49B7FFA5-14CB-4A4F-9BCC-CA3AA5D9D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51293" y="4672260"/>
            <a:ext cx="342900" cy="342900"/>
          </a:xfrm>
          <a:prstGeom prst="ellipse">
            <a:avLst/>
          </a:prstGeom>
          <a:blipFill dpi="0" rotWithShape="1">
            <a:blip r:embed="rId3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50800" ty="0" sx="85000" sy="85000" flip="none" algn="tl"/>
          </a:blipFill>
          <a:ln w="25400" cap="flat" cmpd="sng" algn="ctr">
            <a:noFill/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ckwell Extra Bold" pitchFamily="18" charset="0"/>
              <a:ea typeface="+mn-ea"/>
              <a:cs typeface="+mn-cs"/>
            </a:endParaRP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04E48745-7512-4EC2-9E20-9092D1215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73188" y="4694155"/>
            <a:ext cx="299110" cy="299111"/>
          </a:xfrm>
          <a:prstGeom prst="ellipse">
            <a:avLst/>
          </a:prstGeom>
          <a:noFill/>
          <a:ln w="12700" cap="flat" cmpd="sng" algn="ctr">
            <a:solidFill>
              <a:srgbClr val="FFFFFF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Problem in nutshell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9FEBE8-3FDF-3C49-8FD2-C912E6621F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7900" y="1489824"/>
            <a:ext cx="8368200" cy="2380427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URL features to identify malicious Websites and links</a:t>
            </a:r>
          </a:p>
          <a:p>
            <a:pPr lvl="1"/>
            <a:r>
              <a:rPr lang="en-US" dirty="0"/>
              <a:t>Without using </a:t>
            </a:r>
            <a:r>
              <a:rPr lang="en-US" dirty="0">
                <a:solidFill>
                  <a:srgbClr val="00B0F0"/>
                </a:solidFill>
              </a:rPr>
              <a:t>context</a:t>
            </a:r>
            <a:r>
              <a:rPr lang="en-US" dirty="0"/>
              <a:t> and </a:t>
            </a:r>
            <a:r>
              <a:rPr lang="en-US" dirty="0">
                <a:solidFill>
                  <a:srgbClr val="00B0F0"/>
                </a:solidFill>
              </a:rPr>
              <a:t>content</a:t>
            </a:r>
            <a:r>
              <a:rPr lang="en-US" dirty="0"/>
              <a:t> inside the link.</a:t>
            </a:r>
          </a:p>
          <a:p>
            <a:pPr lvl="1"/>
            <a:endParaRPr lang="en-US" dirty="0"/>
          </a:p>
          <a:p>
            <a:r>
              <a:rPr lang="en-US" dirty="0"/>
              <a:t>Different classes of URLs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Benign</a:t>
            </a:r>
            <a:r>
              <a:rPr lang="en-US" dirty="0"/>
              <a:t>, </a:t>
            </a:r>
            <a:r>
              <a:rPr lang="en-US" dirty="0">
                <a:solidFill>
                  <a:srgbClr val="FF0000"/>
                </a:solidFill>
              </a:rPr>
              <a:t>Spam, Phishing, Scam</a:t>
            </a:r>
            <a:r>
              <a:rPr lang="en-US" dirty="0"/>
              <a:t> etc.</a:t>
            </a:r>
          </a:p>
          <a:p>
            <a:pPr lvl="1"/>
            <a:r>
              <a:rPr lang="en-US" dirty="0"/>
              <a:t>For now, distinguish between </a:t>
            </a:r>
            <a:r>
              <a:rPr lang="en-US" dirty="0">
                <a:solidFill>
                  <a:srgbClr val="00B050"/>
                </a:solidFill>
              </a:rPr>
              <a:t>Benign</a:t>
            </a:r>
            <a:r>
              <a:rPr lang="en-US" dirty="0"/>
              <a:t> vs </a:t>
            </a:r>
            <a:r>
              <a:rPr lang="en-US" dirty="0">
                <a:solidFill>
                  <a:srgbClr val="FF0000"/>
                </a:solidFill>
              </a:rPr>
              <a:t>Malicious</a:t>
            </a:r>
            <a:r>
              <a:rPr lang="en-US" dirty="0"/>
              <a:t>.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4553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Graphical user interface, application, email, website&#10;&#10;Description automatically generated">
            <a:extLst>
              <a:ext uri="{FF2B5EF4-FFF2-40B4-BE49-F238E27FC236}">
                <a16:creationId xmlns:a16="http://schemas.microsoft.com/office/drawing/2014/main" id="{E4D88596-945A-9648-B92B-BC4DA63DD7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20" y="511545"/>
            <a:ext cx="3970080" cy="2280114"/>
          </a:xfrm>
          <a:prstGeom prst="rect">
            <a:avLst/>
          </a:prstGeom>
        </p:spPr>
      </p:pic>
      <p:pic>
        <p:nvPicPr>
          <p:cNvPr id="7" name="Picture 6" descr="Graphical user interface, website&#10;&#10;Description automatically generated">
            <a:extLst>
              <a:ext uri="{FF2B5EF4-FFF2-40B4-BE49-F238E27FC236}">
                <a16:creationId xmlns:a16="http://schemas.microsoft.com/office/drawing/2014/main" id="{0275607A-1D9F-1042-A39E-AF985EF6C0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5433" y="2159592"/>
            <a:ext cx="4085596" cy="220891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704A522-84E3-3A48-B799-7C072EC3D931}"/>
              </a:ext>
            </a:extLst>
          </p:cNvPr>
          <p:cNvSpPr/>
          <p:nvPr/>
        </p:nvSpPr>
        <p:spPr>
          <a:xfrm rot="19723103">
            <a:off x="4788152" y="2944070"/>
            <a:ext cx="2438488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4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Malicious</a:t>
            </a:r>
            <a:endParaRPr lang="en-GB" sz="40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85C3E7-2141-CB4B-AF74-81F79116E081}"/>
              </a:ext>
            </a:extLst>
          </p:cNvPr>
          <p:cNvSpPr txBox="1"/>
          <p:nvPr/>
        </p:nvSpPr>
        <p:spPr>
          <a:xfrm>
            <a:off x="3712251" y="4897279"/>
            <a:ext cx="21387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Image Source : </a:t>
            </a:r>
            <a:r>
              <a:rPr lang="en-US" sz="1000" dirty="0" err="1"/>
              <a:t>www.google.com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140210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Malicious </a:t>
            </a:r>
            <a:r>
              <a:rPr lang="en" dirty="0" err="1"/>
              <a:t>url</a:t>
            </a:r>
            <a:r>
              <a:rPr lang="en" dirty="0"/>
              <a:t> and what they can do?</a:t>
            </a:r>
            <a:endParaRPr dirty="0"/>
          </a:p>
        </p:txBody>
      </p:sp>
      <p:sp>
        <p:nvSpPr>
          <p:cNvPr id="75" name="Google Shape;75;p1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/>
            <a:r>
              <a:rPr lang="en" dirty="0"/>
              <a:t>Malicious URL is a clickable link that leads users to a malicious or fraudulent webpage .</a:t>
            </a:r>
            <a:endParaRPr dirty="0"/>
          </a:p>
          <a:p>
            <a:pPr marL="285750" indent="-285750">
              <a:spcBef>
                <a:spcPts val="1600"/>
              </a:spcBef>
            </a:pPr>
            <a:r>
              <a:rPr lang="en" dirty="0"/>
              <a:t>By clicking on such type of URL user can expose their system to various threats such as virus, trojans, ransomware and many other types of malwares.</a:t>
            </a:r>
            <a:endParaRPr dirty="0"/>
          </a:p>
          <a:p>
            <a:pPr marL="285750" indent="-285750">
              <a:spcBef>
                <a:spcPts val="1600"/>
              </a:spcBef>
            </a:pPr>
            <a:r>
              <a:rPr lang="en" dirty="0"/>
              <a:t>The potential harm is so big that malicious links are considered one of the biggest threats to the digital world.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76" name="Google Shape;76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02670" y="4138774"/>
            <a:ext cx="2076525" cy="859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Goal:</a:t>
            </a:r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Recently several efforts to perform malicious url detection mechanism based on the machine learning algorithm.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Most of the approaches used lexical properties of URL string by extracting bag of words features but these approaches suffer from several limitations.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To address these challenges, this paper introduced URLNet.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Malicious url techniques: </a:t>
            </a:r>
            <a:endParaRPr/>
          </a:p>
        </p:txBody>
      </p:sp>
      <p:sp>
        <p:nvSpPr>
          <p:cNvPr id="88" name="Google Shape;88;p1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Traditionally detection of malicious url done through usage of blacklists which can not be exhaustive.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Recently, several efforts to perform malicious url detection using machine learning.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Most popular and scalable approaches use lexical properties of url string by extracting bag of words like features followed by applying SVM.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Disadvantages of current techniques:</a:t>
            </a:r>
            <a:endParaRPr/>
          </a:p>
        </p:txBody>
      </p:sp>
      <p:sp>
        <p:nvSpPr>
          <p:cNvPr id="94" name="Google Shape;94;p18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Current techniques are not able to capture semantic meaning and sequential patterns in url.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Not able to handle unseen features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Requiring substantial manual feature engineering</a:t>
            </a:r>
            <a:endParaRPr/>
          </a:p>
          <a:p>
            <a:pPr marL="4572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Proposed approach:</a:t>
            </a:r>
            <a:endParaRPr/>
          </a:p>
        </p:txBody>
      </p:sp>
      <p:sp>
        <p:nvSpPr>
          <p:cNvPr id="100" name="Google Shape;100;p19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-Deep learning based solution for malicious url detection.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-Character level and word level CNN’s used to detect the pattern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-Both character and word CNN’s together to remove some challenges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-This approach allow us to alleviate the shortcomings of traditional approaches.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Features:</a:t>
            </a:r>
            <a:endParaRPr dirty="0"/>
          </a:p>
        </p:txBody>
      </p:sp>
      <p:sp>
        <p:nvSpPr>
          <p:cNvPr id="106" name="Google Shape;106;p20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-Lexical features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dirty="0"/>
              <a:t>-Blacklist features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dirty="0"/>
              <a:t>-Host-based features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dirty="0"/>
              <a:t>-Content features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dirty="0"/>
              <a:t>-context &amp; popularity features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272D015-BC3B-394C-8761-5C19FC6360F6}"/>
              </a:ext>
            </a:extLst>
          </p:cNvPr>
          <p:cNvSpPr/>
          <p:nvPr/>
        </p:nvSpPr>
        <p:spPr>
          <a:xfrm>
            <a:off x="196612" y="348066"/>
            <a:ext cx="8772821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GB" sz="40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URLNet</a:t>
            </a:r>
          </a:p>
        </p:txBody>
      </p:sp>
      <p:sp>
        <p:nvSpPr>
          <p:cNvPr id="6" name="Google Shape;106;p20">
            <a:extLst>
              <a:ext uri="{FF2B5EF4-FFF2-40B4-BE49-F238E27FC236}">
                <a16:creationId xmlns:a16="http://schemas.microsoft.com/office/drawing/2014/main" id="{79AF2070-9D8E-B04E-855C-FAFF00FEFF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87900" y="1406697"/>
            <a:ext cx="8368200" cy="14813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Three major components of URLNet include: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285750" indent="-285750">
              <a:buFont typeface="Wingdings" pitchFamily="2" charset="2"/>
              <a:buChar char="§"/>
            </a:pPr>
            <a:r>
              <a:rPr lang="en-US" dirty="0"/>
              <a:t>Character-level </a:t>
            </a:r>
            <a:r>
              <a:rPr lang="en-US" dirty="0">
                <a:solidFill>
                  <a:srgbClr val="FF0000"/>
                </a:solidFill>
              </a:rPr>
              <a:t>CNN</a:t>
            </a:r>
            <a:r>
              <a:rPr lang="en-US" dirty="0"/>
              <a:t> for Malicious URL Detection.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US" dirty="0"/>
              <a:t>Word-level </a:t>
            </a:r>
            <a:r>
              <a:rPr lang="en-US" dirty="0">
                <a:solidFill>
                  <a:srgbClr val="FF0000"/>
                </a:solidFill>
              </a:rPr>
              <a:t>CNN</a:t>
            </a:r>
            <a:r>
              <a:rPr lang="en-US" dirty="0"/>
              <a:t> for Malicious URL Detection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US" dirty="0"/>
              <a:t>Word Embeddings</a:t>
            </a:r>
          </a:p>
          <a:p>
            <a:pPr marL="285750" indent="-285750"/>
            <a:endParaRPr lang="en-US" dirty="0"/>
          </a:p>
          <a:p>
            <a:pPr marL="285750" indent="-285750"/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272D015-BC3B-394C-8761-5C19FC6360F6}"/>
              </a:ext>
            </a:extLst>
          </p:cNvPr>
          <p:cNvSpPr/>
          <p:nvPr/>
        </p:nvSpPr>
        <p:spPr>
          <a:xfrm>
            <a:off x="196612" y="348066"/>
            <a:ext cx="8772821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GB" sz="40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URLNet</a:t>
            </a:r>
          </a:p>
        </p:txBody>
      </p:sp>
      <p:sp>
        <p:nvSpPr>
          <p:cNvPr id="6" name="Google Shape;106;p20">
            <a:extLst>
              <a:ext uri="{FF2B5EF4-FFF2-40B4-BE49-F238E27FC236}">
                <a16:creationId xmlns:a16="http://schemas.microsoft.com/office/drawing/2014/main" id="{79AF2070-9D8E-B04E-855C-FAFF00FEFF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87900" y="1406697"/>
            <a:ext cx="8368200" cy="17022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Three major components of URLNet include: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</a:pPr>
            <a:endParaRPr lang="en-US" dirty="0"/>
          </a:p>
          <a:p>
            <a:pPr marL="285750" indent="-285750">
              <a:buFont typeface="Wingdings" pitchFamily="2" charset="2"/>
              <a:buChar char="§"/>
            </a:pPr>
            <a:r>
              <a:rPr lang="en-US" dirty="0"/>
              <a:t>Character-level </a:t>
            </a:r>
            <a:r>
              <a:rPr lang="en-US" dirty="0">
                <a:solidFill>
                  <a:srgbClr val="FF0000"/>
                </a:solidFill>
              </a:rPr>
              <a:t>CNN</a:t>
            </a:r>
            <a:r>
              <a:rPr lang="en-US" dirty="0"/>
              <a:t> for Malicious URL Detection.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US" dirty="0"/>
              <a:t>Word-level </a:t>
            </a:r>
            <a:r>
              <a:rPr lang="en-US" dirty="0">
                <a:solidFill>
                  <a:srgbClr val="FF0000"/>
                </a:solidFill>
              </a:rPr>
              <a:t>CNN</a:t>
            </a:r>
            <a:r>
              <a:rPr lang="en-US" dirty="0"/>
              <a:t> for Malicious URL Detection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US" dirty="0"/>
              <a:t>Word Embeddings</a:t>
            </a:r>
          </a:p>
          <a:p>
            <a:pPr marL="285750" indent="-285750"/>
            <a:endParaRPr lang="en-US" dirty="0"/>
          </a:p>
          <a:p>
            <a:pPr marL="285750" indent="-285750"/>
            <a:endParaRPr lang="en-US" dirty="0"/>
          </a:p>
          <a:p>
            <a:pPr marL="0" indent="0" algn="ctr">
              <a:buNone/>
            </a:pPr>
            <a:r>
              <a:rPr lang="en-US" dirty="0">
                <a:solidFill>
                  <a:srgbClr val="FF0000"/>
                </a:solidFill>
              </a:rPr>
              <a:t>What is CNN </a:t>
            </a:r>
          </a:p>
          <a:p>
            <a:pPr marL="285750" indent="-285750"/>
            <a:endParaRPr dirty="0"/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C295E034-6050-9248-AFB5-665C04FF61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5180619" y="2661867"/>
            <a:ext cx="857250" cy="8572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EF1AE9D-39BA-6746-B1E8-F28EFFDBBCEA}"/>
              </a:ext>
            </a:extLst>
          </p:cNvPr>
          <p:cNvSpPr txBox="1"/>
          <p:nvPr/>
        </p:nvSpPr>
        <p:spPr>
          <a:xfrm>
            <a:off x="2981815" y="5143500"/>
            <a:ext cx="318036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hlinkClick r:id="rId4" tooltip="http://myedmondsnews.com/2018/04/live-in-edmonds-what-do-you-call-yourself/question-mark-1019820_1280/"/>
              </a:rPr>
              <a:t>This Photo</a:t>
            </a:r>
            <a:r>
              <a:rPr lang="en-US" sz="900" dirty="0"/>
              <a:t> by Unknown Author is licensed under </a:t>
            </a:r>
            <a:r>
              <a:rPr lang="en-US" sz="900" dirty="0">
                <a:hlinkClick r:id="rId5" tooltip="https://creativecommons.org/licenses/by/3.0/"/>
              </a:rPr>
              <a:t>CC BY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798095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05;p20">
            <a:extLst>
              <a:ext uri="{FF2B5EF4-FFF2-40B4-BE49-F238E27FC236}">
                <a16:creationId xmlns:a16="http://schemas.microsoft.com/office/drawing/2014/main" id="{4667A93C-49EA-8B45-9B29-30FAF54FB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CNN</a:t>
            </a:r>
            <a:endParaRPr dirty="0"/>
          </a:p>
        </p:txBody>
      </p:sp>
      <p:pic>
        <p:nvPicPr>
          <p:cNvPr id="3" name="Picture 2" descr="Diagram, schematic&#10;&#10;Description automatically generated">
            <a:extLst>
              <a:ext uri="{FF2B5EF4-FFF2-40B4-BE49-F238E27FC236}">
                <a16:creationId xmlns:a16="http://schemas.microsoft.com/office/drawing/2014/main" id="{42DE55A9-049E-9F4E-A368-278F446242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600200" y="1028700"/>
            <a:ext cx="5943600" cy="3086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007662F-A13E-654D-BEAC-6B01744AED75}"/>
              </a:ext>
            </a:extLst>
          </p:cNvPr>
          <p:cNvSpPr txBox="1"/>
          <p:nvPr/>
        </p:nvSpPr>
        <p:spPr>
          <a:xfrm>
            <a:off x="2846070" y="4912668"/>
            <a:ext cx="34518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hlinkClick r:id="rId4" tooltip="https://www.frontiersin.org/articles/10.3389/fnins.2018.00777/full"/>
              </a:rPr>
              <a:t>This Photo</a:t>
            </a:r>
            <a:r>
              <a:rPr lang="en-US" sz="900" dirty="0"/>
              <a:t> by Unknown Author is licensed under </a:t>
            </a:r>
            <a:r>
              <a:rPr lang="en-US" sz="900" dirty="0">
                <a:hlinkClick r:id="rId5" tooltip="https://creativecommons.org/licenses/by/3.0/"/>
              </a:rPr>
              <a:t>CC BY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5630885-2E5C-724A-AFDF-BD4D0BDEB71A}"/>
              </a:ext>
            </a:extLst>
          </p:cNvPr>
          <p:cNvSpPr txBox="1"/>
          <p:nvPr/>
        </p:nvSpPr>
        <p:spPr>
          <a:xfrm>
            <a:off x="387900" y="1207600"/>
            <a:ext cx="7905074" cy="263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>
                <a:solidFill>
                  <a:schemeClr val="tx1"/>
                </a:solidFill>
              </a:rPr>
              <a:t>CNN stands for Convolutional Neural Network.</a:t>
            </a:r>
          </a:p>
          <a:p>
            <a:pPr marL="285750" indent="-28575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>
                <a:solidFill>
                  <a:schemeClr val="tx1"/>
                </a:solidFill>
              </a:rPr>
              <a:t>CNN is commonly applied to analyze visual images.</a:t>
            </a:r>
          </a:p>
          <a:p>
            <a:pPr marL="342900" indent="-34290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>
                <a:solidFill>
                  <a:schemeClr val="tx1"/>
                </a:solidFill>
              </a:rPr>
              <a:t>They have applications in following domain:</a:t>
            </a:r>
          </a:p>
          <a:p>
            <a:pPr marL="800100" lvl="1" indent="-34290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>
                <a:solidFill>
                  <a:schemeClr val="tx1"/>
                </a:solidFill>
              </a:rPr>
              <a:t>Image and Video Recognition</a:t>
            </a:r>
          </a:p>
          <a:p>
            <a:pPr marL="800100" lvl="1" indent="-34290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/>
              <a:t>Recommender Systems</a:t>
            </a:r>
          </a:p>
          <a:p>
            <a:pPr marL="800100" lvl="1" indent="-34290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>
                <a:solidFill>
                  <a:schemeClr val="tx1"/>
                </a:solidFill>
              </a:rPr>
              <a:t>Image </a:t>
            </a:r>
            <a:r>
              <a:rPr lang="en-US" sz="1500" dirty="0"/>
              <a:t>C</a:t>
            </a:r>
            <a:r>
              <a:rPr lang="en-US" sz="1500" dirty="0">
                <a:solidFill>
                  <a:schemeClr val="tx1"/>
                </a:solidFill>
              </a:rPr>
              <a:t>lassification</a:t>
            </a:r>
          </a:p>
          <a:p>
            <a:pPr marL="800100" lvl="1" indent="-34290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/>
              <a:t>Image Segmentation</a:t>
            </a:r>
          </a:p>
          <a:p>
            <a:pPr marL="800100" lvl="1" indent="-34290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>
                <a:solidFill>
                  <a:schemeClr val="tx1"/>
                </a:solidFill>
              </a:rPr>
              <a:t>Medical Image Analysis</a:t>
            </a:r>
          </a:p>
          <a:p>
            <a:pPr marL="800100" lvl="1" indent="-34290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/>
              <a:t>Natural Language Processing</a:t>
            </a:r>
          </a:p>
          <a:p>
            <a:pPr marL="800100" lvl="1" indent="-34290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>
                <a:solidFill>
                  <a:schemeClr val="tx1"/>
                </a:solidFill>
              </a:rPr>
              <a:t>Brain-computer interfaces</a:t>
            </a:r>
          </a:p>
          <a:p>
            <a:pPr marL="800100" lvl="1" indent="-34290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/>
              <a:t>Financial Time series</a:t>
            </a:r>
            <a:endParaRPr lang="en-US" sz="1500" dirty="0">
              <a:solidFill>
                <a:schemeClr val="tx1"/>
              </a:solidFill>
            </a:endParaRPr>
          </a:p>
        </p:txBody>
      </p:sp>
      <p:sp>
        <p:nvSpPr>
          <p:cNvPr id="4" name="Google Shape;105;p20">
            <a:extLst>
              <a:ext uri="{FF2B5EF4-FFF2-40B4-BE49-F238E27FC236}">
                <a16:creationId xmlns:a16="http://schemas.microsoft.com/office/drawing/2014/main" id="{4667A93C-49EA-8B45-9B29-30FAF54FB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CNN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251621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5630885-2E5C-724A-AFDF-BD4D0BDEB71A}"/>
              </a:ext>
            </a:extLst>
          </p:cNvPr>
          <p:cNvSpPr txBox="1"/>
          <p:nvPr/>
        </p:nvSpPr>
        <p:spPr>
          <a:xfrm>
            <a:off x="387900" y="1207600"/>
            <a:ext cx="6078972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>
                <a:solidFill>
                  <a:schemeClr val="tx1"/>
                </a:solidFill>
              </a:rPr>
              <a:t>Major components of CNN:</a:t>
            </a:r>
          </a:p>
          <a:p>
            <a:pPr marL="742950" lvl="1" indent="-285750">
              <a:buClr>
                <a:schemeClr val="accent2"/>
              </a:buClr>
              <a:buFont typeface="Wingdings" pitchFamily="2" charset="2"/>
              <a:buChar char="§"/>
            </a:pPr>
            <a:endParaRPr lang="en-US" sz="1500" dirty="0">
              <a:solidFill>
                <a:schemeClr val="tx1"/>
              </a:solidFill>
            </a:endParaRPr>
          </a:p>
          <a:p>
            <a:pPr marL="742950" lvl="1" indent="-28575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/>
              <a:t>Convolution (conv) Layer</a:t>
            </a:r>
          </a:p>
          <a:p>
            <a:pPr marL="742950" lvl="1" indent="-28575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>
                <a:solidFill>
                  <a:schemeClr val="tx1"/>
                </a:solidFill>
              </a:rPr>
              <a:t>Subsampling (Max pooling, Min pooling, Average Pooling)</a:t>
            </a:r>
          </a:p>
          <a:p>
            <a:pPr marL="742950" lvl="1" indent="-28575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>
                <a:solidFill>
                  <a:schemeClr val="tx1"/>
                </a:solidFill>
              </a:rPr>
              <a:t>Fully connected Layer</a:t>
            </a:r>
          </a:p>
          <a:p>
            <a:pPr marL="742950" lvl="1" indent="-28575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>
                <a:solidFill>
                  <a:schemeClr val="tx1"/>
                </a:solidFill>
              </a:rPr>
              <a:t>Output Layer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4" name="Google Shape;105;p20">
            <a:extLst>
              <a:ext uri="{FF2B5EF4-FFF2-40B4-BE49-F238E27FC236}">
                <a16:creationId xmlns:a16="http://schemas.microsoft.com/office/drawing/2014/main" id="{4667A93C-49EA-8B45-9B29-30FAF54FB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CNN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341342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5630885-2E5C-724A-AFDF-BD4D0BDEB71A}"/>
              </a:ext>
            </a:extLst>
          </p:cNvPr>
          <p:cNvSpPr txBox="1"/>
          <p:nvPr/>
        </p:nvSpPr>
        <p:spPr>
          <a:xfrm>
            <a:off x="98188" y="1427013"/>
            <a:ext cx="82038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1500" dirty="0">
                <a:solidFill>
                  <a:schemeClr val="tx1"/>
                </a:solidFill>
              </a:rPr>
              <a:t>Example : From input layer to the first hidden layer.</a:t>
            </a:r>
          </a:p>
        </p:txBody>
      </p:sp>
      <p:sp>
        <p:nvSpPr>
          <p:cNvPr id="4" name="Google Shape;105;p20">
            <a:extLst>
              <a:ext uri="{FF2B5EF4-FFF2-40B4-BE49-F238E27FC236}">
                <a16:creationId xmlns:a16="http://schemas.microsoft.com/office/drawing/2014/main" id="{4667A93C-49EA-8B45-9B29-30FAF54FB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convolution (conv) layer</a:t>
            </a:r>
            <a:endParaRPr dirty="0"/>
          </a:p>
        </p:txBody>
      </p:sp>
      <p:pic>
        <p:nvPicPr>
          <p:cNvPr id="3" name="Picture 2" descr="Calendar&#10;&#10;Description automatically generated">
            <a:extLst>
              <a:ext uri="{FF2B5EF4-FFF2-40B4-BE49-F238E27FC236}">
                <a16:creationId xmlns:a16="http://schemas.microsoft.com/office/drawing/2014/main" id="{807FB3CF-1A32-8346-86D0-20091EE12E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543" y="2775451"/>
            <a:ext cx="1225236" cy="1429442"/>
          </a:xfrm>
          <a:prstGeom prst="rect">
            <a:avLst/>
          </a:prstGeom>
        </p:spPr>
      </p:pic>
      <p:pic>
        <p:nvPicPr>
          <p:cNvPr id="7" name="Picture 6" descr="A picture containing text, crossword puzzle&#10;&#10;Description automatically generated">
            <a:extLst>
              <a:ext uri="{FF2B5EF4-FFF2-40B4-BE49-F238E27FC236}">
                <a16:creationId xmlns:a16="http://schemas.microsoft.com/office/drawing/2014/main" id="{B57394F4-7ADC-2740-BE5A-EAD7C652A1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7754" y="2775451"/>
            <a:ext cx="1225236" cy="14294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F3DB79-D181-864D-932A-FB66FE0863F4}"/>
              </a:ext>
            </a:extLst>
          </p:cNvPr>
          <p:cNvSpPr txBox="1"/>
          <p:nvPr/>
        </p:nvSpPr>
        <p:spPr>
          <a:xfrm>
            <a:off x="579422" y="2206466"/>
            <a:ext cx="136707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1500" dirty="0">
                <a:solidFill>
                  <a:schemeClr val="tx1"/>
                </a:solidFill>
              </a:rPr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5523074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5630885-2E5C-724A-AFDF-BD4D0BDEB71A}"/>
              </a:ext>
            </a:extLst>
          </p:cNvPr>
          <p:cNvSpPr txBox="1"/>
          <p:nvPr/>
        </p:nvSpPr>
        <p:spPr>
          <a:xfrm>
            <a:off x="98188" y="1427013"/>
            <a:ext cx="82038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1500" dirty="0">
                <a:solidFill>
                  <a:schemeClr val="tx1"/>
                </a:solidFill>
              </a:rPr>
              <a:t>Example : From input layer to the first hidden layer.</a:t>
            </a:r>
          </a:p>
        </p:txBody>
      </p:sp>
      <p:sp>
        <p:nvSpPr>
          <p:cNvPr id="4" name="Google Shape;105;p20">
            <a:extLst>
              <a:ext uri="{FF2B5EF4-FFF2-40B4-BE49-F238E27FC236}">
                <a16:creationId xmlns:a16="http://schemas.microsoft.com/office/drawing/2014/main" id="{4667A93C-49EA-8B45-9B29-30FAF54FB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convolution (conv) layer</a:t>
            </a:r>
            <a:endParaRPr dirty="0"/>
          </a:p>
        </p:txBody>
      </p:sp>
      <p:pic>
        <p:nvPicPr>
          <p:cNvPr id="3" name="Picture 2" descr="Calendar&#10;&#10;Description automatically generated">
            <a:extLst>
              <a:ext uri="{FF2B5EF4-FFF2-40B4-BE49-F238E27FC236}">
                <a16:creationId xmlns:a16="http://schemas.microsoft.com/office/drawing/2014/main" id="{807FB3CF-1A32-8346-86D0-20091EE12E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543" y="2775451"/>
            <a:ext cx="1225236" cy="1429442"/>
          </a:xfrm>
          <a:prstGeom prst="rect">
            <a:avLst/>
          </a:prstGeom>
        </p:spPr>
      </p:pic>
      <p:pic>
        <p:nvPicPr>
          <p:cNvPr id="7" name="Picture 6" descr="A picture containing text, crossword puzzle&#10;&#10;Description automatically generated">
            <a:extLst>
              <a:ext uri="{FF2B5EF4-FFF2-40B4-BE49-F238E27FC236}">
                <a16:creationId xmlns:a16="http://schemas.microsoft.com/office/drawing/2014/main" id="{B57394F4-7ADC-2740-BE5A-EAD7C652A1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7754" y="2775451"/>
            <a:ext cx="1225236" cy="14294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F3DB79-D181-864D-932A-FB66FE0863F4}"/>
              </a:ext>
            </a:extLst>
          </p:cNvPr>
          <p:cNvSpPr txBox="1"/>
          <p:nvPr/>
        </p:nvSpPr>
        <p:spPr>
          <a:xfrm>
            <a:off x="579422" y="2206466"/>
            <a:ext cx="136707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1500" dirty="0">
                <a:solidFill>
                  <a:schemeClr val="tx1"/>
                </a:solidFill>
              </a:rPr>
              <a:t>Input</a:t>
            </a:r>
          </a:p>
        </p:txBody>
      </p:sp>
      <p:pic>
        <p:nvPicPr>
          <p:cNvPr id="6" name="Picture 5" descr="Calendar&#10;&#10;Description automatically generated">
            <a:extLst>
              <a:ext uri="{FF2B5EF4-FFF2-40B4-BE49-F238E27FC236}">
                <a16:creationId xmlns:a16="http://schemas.microsoft.com/office/drawing/2014/main" id="{B9181C8B-33BE-074D-8754-3B3761928D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6965" y="2775451"/>
            <a:ext cx="1225236" cy="1429442"/>
          </a:xfrm>
          <a:prstGeom prst="rect">
            <a:avLst/>
          </a:prstGeom>
        </p:spPr>
      </p:pic>
      <p:pic>
        <p:nvPicPr>
          <p:cNvPr id="10" name="Picture 9" descr="A picture containing text, crossword puzzle&#10;&#10;Description automatically generated">
            <a:extLst>
              <a:ext uri="{FF2B5EF4-FFF2-40B4-BE49-F238E27FC236}">
                <a16:creationId xmlns:a16="http://schemas.microsoft.com/office/drawing/2014/main" id="{79BCDDFC-34EB-3040-B873-B6F874AB73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176" y="2768730"/>
            <a:ext cx="1225236" cy="1429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7589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5630885-2E5C-724A-AFDF-BD4D0BDEB71A}"/>
              </a:ext>
            </a:extLst>
          </p:cNvPr>
          <p:cNvSpPr txBox="1"/>
          <p:nvPr/>
        </p:nvSpPr>
        <p:spPr>
          <a:xfrm>
            <a:off x="98188" y="1427013"/>
            <a:ext cx="82038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1500" dirty="0">
                <a:solidFill>
                  <a:schemeClr val="tx1"/>
                </a:solidFill>
              </a:rPr>
              <a:t>Example : From input layer to the first hidden layer.</a:t>
            </a:r>
          </a:p>
        </p:txBody>
      </p:sp>
      <p:sp>
        <p:nvSpPr>
          <p:cNvPr id="4" name="Google Shape;105;p20">
            <a:extLst>
              <a:ext uri="{FF2B5EF4-FFF2-40B4-BE49-F238E27FC236}">
                <a16:creationId xmlns:a16="http://schemas.microsoft.com/office/drawing/2014/main" id="{4667A93C-49EA-8B45-9B29-30FAF54FB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convolution (conv) layer</a:t>
            </a:r>
            <a:endParaRPr dirty="0"/>
          </a:p>
        </p:txBody>
      </p:sp>
      <p:pic>
        <p:nvPicPr>
          <p:cNvPr id="3" name="Picture 2" descr="Calendar&#10;&#10;Description automatically generated">
            <a:extLst>
              <a:ext uri="{FF2B5EF4-FFF2-40B4-BE49-F238E27FC236}">
                <a16:creationId xmlns:a16="http://schemas.microsoft.com/office/drawing/2014/main" id="{807FB3CF-1A32-8346-86D0-20091EE12E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543" y="2775451"/>
            <a:ext cx="1225236" cy="14294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F3DB79-D181-864D-932A-FB66FE0863F4}"/>
              </a:ext>
            </a:extLst>
          </p:cNvPr>
          <p:cNvSpPr txBox="1"/>
          <p:nvPr/>
        </p:nvSpPr>
        <p:spPr>
          <a:xfrm>
            <a:off x="579422" y="2206466"/>
            <a:ext cx="136707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1500" dirty="0">
                <a:solidFill>
                  <a:schemeClr val="tx1"/>
                </a:solidFill>
              </a:rPr>
              <a:t>Input</a:t>
            </a:r>
          </a:p>
        </p:txBody>
      </p:sp>
      <p:pic>
        <p:nvPicPr>
          <p:cNvPr id="6" name="Picture 5" descr="Calendar&#10;&#10;Description automatically generated">
            <a:extLst>
              <a:ext uri="{FF2B5EF4-FFF2-40B4-BE49-F238E27FC236}">
                <a16:creationId xmlns:a16="http://schemas.microsoft.com/office/drawing/2014/main" id="{B9181C8B-33BE-074D-8754-3B3761928D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1005" y="2775451"/>
            <a:ext cx="1225236" cy="1429442"/>
          </a:xfrm>
          <a:prstGeom prst="rect">
            <a:avLst/>
          </a:prstGeom>
        </p:spPr>
      </p:pic>
      <p:pic>
        <p:nvPicPr>
          <p:cNvPr id="9" name="Picture 8" descr="A picture containing text, crossword puzzle&#10;&#10;Description automatically generated">
            <a:extLst>
              <a:ext uri="{FF2B5EF4-FFF2-40B4-BE49-F238E27FC236}">
                <a16:creationId xmlns:a16="http://schemas.microsoft.com/office/drawing/2014/main" id="{7469C7BA-5D3D-514F-859B-AFD3F2E660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3467" y="2775451"/>
            <a:ext cx="1225236" cy="1429442"/>
          </a:xfrm>
          <a:prstGeom prst="rect">
            <a:avLst/>
          </a:prstGeom>
        </p:spPr>
      </p:pic>
      <p:pic>
        <p:nvPicPr>
          <p:cNvPr id="12" name="Picture 11" descr="A picture containing text, crossword puzzle&#10;&#10;Description automatically generated">
            <a:extLst>
              <a:ext uri="{FF2B5EF4-FFF2-40B4-BE49-F238E27FC236}">
                <a16:creationId xmlns:a16="http://schemas.microsoft.com/office/drawing/2014/main" id="{8F42A4F3-B016-F648-BBF8-0721D53304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45929" y="2775451"/>
            <a:ext cx="1225236" cy="142944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4C74F29-C30E-8343-B516-9B0188B84A17}"/>
              </a:ext>
            </a:extLst>
          </p:cNvPr>
          <p:cNvSpPr txBox="1"/>
          <p:nvPr/>
        </p:nvSpPr>
        <p:spPr>
          <a:xfrm>
            <a:off x="405142" y="4523892"/>
            <a:ext cx="67221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1500" dirty="0">
                <a:solidFill>
                  <a:schemeClr val="accent2"/>
                </a:solidFill>
              </a:rPr>
              <a:t>Simple ANN was not able to incorporate all these dynamic changes !!!</a:t>
            </a:r>
          </a:p>
        </p:txBody>
      </p:sp>
    </p:spTree>
    <p:extLst>
      <p:ext uri="{BB962C8B-B14F-4D97-AF65-F5344CB8AC3E}">
        <p14:creationId xmlns:p14="http://schemas.microsoft.com/office/powerpoint/2010/main" val="27801801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5630885-2E5C-724A-AFDF-BD4D0BDEB71A}"/>
              </a:ext>
            </a:extLst>
          </p:cNvPr>
          <p:cNvSpPr txBox="1"/>
          <p:nvPr/>
        </p:nvSpPr>
        <p:spPr>
          <a:xfrm>
            <a:off x="98188" y="1427013"/>
            <a:ext cx="82038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1500" dirty="0">
                <a:solidFill>
                  <a:schemeClr val="tx1"/>
                </a:solidFill>
              </a:rPr>
              <a:t>Example : From input layer to the first hidden layer.</a:t>
            </a:r>
          </a:p>
        </p:txBody>
      </p:sp>
      <p:sp>
        <p:nvSpPr>
          <p:cNvPr id="4" name="Google Shape;105;p20">
            <a:extLst>
              <a:ext uri="{FF2B5EF4-FFF2-40B4-BE49-F238E27FC236}">
                <a16:creationId xmlns:a16="http://schemas.microsoft.com/office/drawing/2014/main" id="{4667A93C-49EA-8B45-9B29-30FAF54FB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convolution (conv) layer</a:t>
            </a:r>
            <a:endParaRPr dirty="0"/>
          </a:p>
        </p:txBody>
      </p:sp>
      <p:pic>
        <p:nvPicPr>
          <p:cNvPr id="3" name="Picture 2" descr="Calendar&#10;&#10;Description automatically generated">
            <a:extLst>
              <a:ext uri="{FF2B5EF4-FFF2-40B4-BE49-F238E27FC236}">
                <a16:creationId xmlns:a16="http://schemas.microsoft.com/office/drawing/2014/main" id="{807FB3CF-1A32-8346-86D0-20091EE12E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543" y="2775451"/>
            <a:ext cx="1225236" cy="14294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F3DB79-D181-864D-932A-FB66FE0863F4}"/>
              </a:ext>
            </a:extLst>
          </p:cNvPr>
          <p:cNvSpPr txBox="1"/>
          <p:nvPr/>
        </p:nvSpPr>
        <p:spPr>
          <a:xfrm>
            <a:off x="579422" y="2206466"/>
            <a:ext cx="136707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1500" dirty="0">
                <a:solidFill>
                  <a:srgbClr val="FF0000"/>
                </a:solidFill>
              </a:rPr>
              <a:t>Input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0125DD-0BAC-D040-88A6-806A29221EFB}"/>
              </a:ext>
            </a:extLst>
          </p:cNvPr>
          <p:cNvSpPr txBox="1"/>
          <p:nvPr/>
        </p:nvSpPr>
        <p:spPr>
          <a:xfrm>
            <a:off x="2317687" y="2206466"/>
            <a:ext cx="164772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1500" dirty="0">
                <a:solidFill>
                  <a:srgbClr val="FF0000"/>
                </a:solidFill>
              </a:rPr>
              <a:t>Features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C62E79-130A-9B44-9019-01A767A3E067}"/>
              </a:ext>
            </a:extLst>
          </p:cNvPr>
          <p:cNvSpPr txBox="1"/>
          <p:nvPr/>
        </p:nvSpPr>
        <p:spPr>
          <a:xfrm>
            <a:off x="2418675" y="2585897"/>
            <a:ext cx="2488303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1500" dirty="0">
                <a:solidFill>
                  <a:schemeClr val="tx1"/>
                </a:solidFill>
              </a:rPr>
              <a:t>Upper Curve ?  </a:t>
            </a:r>
            <a:r>
              <a:rPr lang="en-US" sz="1500" dirty="0">
                <a:solidFill>
                  <a:srgbClr val="00B050"/>
                </a:solidFill>
              </a:rPr>
              <a:t>Y</a:t>
            </a:r>
          </a:p>
          <a:p>
            <a:pPr lvl="1"/>
            <a:endParaRPr lang="en-US" sz="1500" dirty="0">
              <a:solidFill>
                <a:schemeClr val="tx1"/>
              </a:solidFill>
            </a:endParaRPr>
          </a:p>
          <a:p>
            <a:pPr lvl="1"/>
            <a:r>
              <a:rPr lang="en-US" sz="1500" dirty="0"/>
              <a:t>Lower Curve ?  </a:t>
            </a:r>
            <a:r>
              <a:rPr lang="en-US" sz="1500" dirty="0">
                <a:solidFill>
                  <a:srgbClr val="00B050"/>
                </a:solidFill>
              </a:rPr>
              <a:t>Y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>
                <a:solidFill>
                  <a:schemeClr val="tx1"/>
                </a:solidFill>
              </a:rPr>
              <a:t>Straight Line ?  </a:t>
            </a:r>
            <a:r>
              <a:rPr lang="en-US" sz="1500" dirty="0">
                <a:solidFill>
                  <a:srgbClr val="00B050"/>
                </a:solidFill>
              </a:rPr>
              <a:t>Y</a:t>
            </a:r>
          </a:p>
          <a:p>
            <a:pPr lvl="1"/>
            <a:endParaRPr lang="en-US" sz="1500" dirty="0">
              <a:solidFill>
                <a:schemeClr val="tx1"/>
              </a:solidFill>
            </a:endParaRPr>
          </a:p>
          <a:p>
            <a:pPr lvl="1"/>
            <a:r>
              <a:rPr lang="en-US" sz="1500" dirty="0"/>
              <a:t>Left Curve ?  </a:t>
            </a:r>
            <a:r>
              <a:rPr lang="en-US" sz="1500" dirty="0">
                <a:solidFill>
                  <a:srgbClr val="00B050"/>
                </a:solidFill>
              </a:rPr>
              <a:t>Y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>
                <a:solidFill>
                  <a:schemeClr val="tx1"/>
                </a:solidFill>
              </a:rPr>
              <a:t>Etc.…</a:t>
            </a:r>
          </a:p>
        </p:txBody>
      </p:sp>
    </p:spTree>
    <p:extLst>
      <p:ext uri="{BB962C8B-B14F-4D97-AF65-F5344CB8AC3E}">
        <p14:creationId xmlns:p14="http://schemas.microsoft.com/office/powerpoint/2010/main" val="9827240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5630885-2E5C-724A-AFDF-BD4D0BDEB71A}"/>
              </a:ext>
            </a:extLst>
          </p:cNvPr>
          <p:cNvSpPr txBox="1"/>
          <p:nvPr/>
        </p:nvSpPr>
        <p:spPr>
          <a:xfrm>
            <a:off x="98188" y="1427013"/>
            <a:ext cx="82038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1500" dirty="0">
                <a:solidFill>
                  <a:schemeClr val="tx1"/>
                </a:solidFill>
              </a:rPr>
              <a:t>Example : From input layer to the first hidden layer.</a:t>
            </a:r>
          </a:p>
        </p:txBody>
      </p:sp>
      <p:sp>
        <p:nvSpPr>
          <p:cNvPr id="4" name="Google Shape;105;p20">
            <a:extLst>
              <a:ext uri="{FF2B5EF4-FFF2-40B4-BE49-F238E27FC236}">
                <a16:creationId xmlns:a16="http://schemas.microsoft.com/office/drawing/2014/main" id="{4667A93C-49EA-8B45-9B29-30FAF54FB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convolution (conv) layer</a:t>
            </a:r>
            <a:endParaRPr dirty="0"/>
          </a:p>
        </p:txBody>
      </p:sp>
      <p:pic>
        <p:nvPicPr>
          <p:cNvPr id="3" name="Picture 2" descr="Calendar&#10;&#10;Description automatically generated">
            <a:extLst>
              <a:ext uri="{FF2B5EF4-FFF2-40B4-BE49-F238E27FC236}">
                <a16:creationId xmlns:a16="http://schemas.microsoft.com/office/drawing/2014/main" id="{807FB3CF-1A32-8346-86D0-20091EE12E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543" y="2775451"/>
            <a:ext cx="1225236" cy="14294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F3DB79-D181-864D-932A-FB66FE0863F4}"/>
              </a:ext>
            </a:extLst>
          </p:cNvPr>
          <p:cNvSpPr txBox="1"/>
          <p:nvPr/>
        </p:nvSpPr>
        <p:spPr>
          <a:xfrm>
            <a:off x="579422" y="2206466"/>
            <a:ext cx="136707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1500" dirty="0">
                <a:solidFill>
                  <a:srgbClr val="FF0000"/>
                </a:solidFill>
              </a:rPr>
              <a:t>Input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0125DD-0BAC-D040-88A6-806A29221EFB}"/>
              </a:ext>
            </a:extLst>
          </p:cNvPr>
          <p:cNvSpPr txBox="1"/>
          <p:nvPr/>
        </p:nvSpPr>
        <p:spPr>
          <a:xfrm>
            <a:off x="2317687" y="2206466"/>
            <a:ext cx="164772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1500" dirty="0">
                <a:solidFill>
                  <a:srgbClr val="FF0000"/>
                </a:solidFill>
              </a:rPr>
              <a:t>Features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C62E79-130A-9B44-9019-01A767A3E067}"/>
              </a:ext>
            </a:extLst>
          </p:cNvPr>
          <p:cNvSpPr txBox="1"/>
          <p:nvPr/>
        </p:nvSpPr>
        <p:spPr>
          <a:xfrm>
            <a:off x="2418675" y="2585897"/>
            <a:ext cx="2488303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1500" dirty="0">
                <a:solidFill>
                  <a:schemeClr val="tx1"/>
                </a:solidFill>
              </a:rPr>
              <a:t>Upper Curve ?  </a:t>
            </a:r>
            <a:r>
              <a:rPr lang="en-US" sz="1500" dirty="0">
                <a:solidFill>
                  <a:srgbClr val="00B050"/>
                </a:solidFill>
              </a:rPr>
              <a:t>Y</a:t>
            </a:r>
          </a:p>
          <a:p>
            <a:pPr lvl="1"/>
            <a:endParaRPr lang="en-US" sz="1500" dirty="0">
              <a:solidFill>
                <a:schemeClr val="tx1"/>
              </a:solidFill>
            </a:endParaRPr>
          </a:p>
          <a:p>
            <a:pPr lvl="1"/>
            <a:r>
              <a:rPr lang="en-US" sz="1500" dirty="0"/>
              <a:t>Lower Curve ?  </a:t>
            </a:r>
            <a:r>
              <a:rPr lang="en-US" sz="1500" dirty="0">
                <a:solidFill>
                  <a:srgbClr val="00B050"/>
                </a:solidFill>
              </a:rPr>
              <a:t>Y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>
                <a:solidFill>
                  <a:schemeClr val="tx1"/>
                </a:solidFill>
              </a:rPr>
              <a:t>Straight Line ?  </a:t>
            </a:r>
            <a:r>
              <a:rPr lang="en-US" sz="1500" dirty="0">
                <a:solidFill>
                  <a:srgbClr val="00B050"/>
                </a:solidFill>
              </a:rPr>
              <a:t>Y</a:t>
            </a:r>
          </a:p>
          <a:p>
            <a:pPr lvl="1"/>
            <a:endParaRPr lang="en-US" sz="1500" dirty="0">
              <a:solidFill>
                <a:schemeClr val="tx1"/>
              </a:solidFill>
            </a:endParaRPr>
          </a:p>
          <a:p>
            <a:pPr lvl="1"/>
            <a:r>
              <a:rPr lang="en-US" sz="1500" dirty="0"/>
              <a:t>Left Curve ?  </a:t>
            </a:r>
            <a:r>
              <a:rPr lang="en-US" sz="1500" dirty="0">
                <a:solidFill>
                  <a:srgbClr val="00B050"/>
                </a:solidFill>
              </a:rPr>
              <a:t>Y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>
                <a:solidFill>
                  <a:schemeClr val="tx1"/>
                </a:solidFill>
              </a:rPr>
              <a:t>Etc.…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F228222-DD54-E747-9A05-AA8C5C23AB43}"/>
              </a:ext>
            </a:extLst>
          </p:cNvPr>
          <p:cNvCxnSpPr/>
          <p:nvPr/>
        </p:nvCxnSpPr>
        <p:spPr>
          <a:xfrm>
            <a:off x="4572000" y="2697933"/>
            <a:ext cx="1774479" cy="6427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6287541-2779-1541-BE65-CB6171DB46CB}"/>
              </a:ext>
            </a:extLst>
          </p:cNvPr>
          <p:cNvCxnSpPr>
            <a:cxnSpLocks/>
          </p:cNvCxnSpPr>
          <p:nvPr/>
        </p:nvCxnSpPr>
        <p:spPr>
          <a:xfrm>
            <a:off x="4572000" y="3232087"/>
            <a:ext cx="1774479" cy="2806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EE06AE-9A55-3C40-96A0-CB70DAEC6BBC}"/>
              </a:ext>
            </a:extLst>
          </p:cNvPr>
          <p:cNvCxnSpPr>
            <a:cxnSpLocks/>
          </p:cNvCxnSpPr>
          <p:nvPr/>
        </p:nvCxnSpPr>
        <p:spPr>
          <a:xfrm>
            <a:off x="4572000" y="3665145"/>
            <a:ext cx="177447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8B9D08D-382A-4045-95FD-B10779FE9BF5}"/>
              </a:ext>
            </a:extLst>
          </p:cNvPr>
          <p:cNvCxnSpPr>
            <a:cxnSpLocks/>
          </p:cNvCxnSpPr>
          <p:nvPr/>
        </p:nvCxnSpPr>
        <p:spPr>
          <a:xfrm flipV="1">
            <a:off x="4409038" y="3811509"/>
            <a:ext cx="1937441" cy="3078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9BE9728-E8E8-B449-9450-49E4A4AADD1D}"/>
              </a:ext>
            </a:extLst>
          </p:cNvPr>
          <p:cNvCxnSpPr>
            <a:cxnSpLocks/>
          </p:cNvCxnSpPr>
          <p:nvPr/>
        </p:nvCxnSpPr>
        <p:spPr>
          <a:xfrm flipV="1">
            <a:off x="3720974" y="4010685"/>
            <a:ext cx="2625505" cy="5703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25" descr="Calendar&#10;&#10;Description automatically generated">
            <a:extLst>
              <a:ext uri="{FF2B5EF4-FFF2-40B4-BE49-F238E27FC236}">
                <a16:creationId xmlns:a16="http://schemas.microsoft.com/office/drawing/2014/main" id="{6D057514-8E05-4345-A1AD-38D343F5A0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7685" y="2950424"/>
            <a:ext cx="1225236" cy="142944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F426EB4-07B2-9B46-8EDB-DC8BACE5D255}"/>
              </a:ext>
            </a:extLst>
          </p:cNvPr>
          <p:cNvSpPr txBox="1"/>
          <p:nvPr/>
        </p:nvSpPr>
        <p:spPr>
          <a:xfrm>
            <a:off x="6447685" y="2326433"/>
            <a:ext cx="1703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 this Nine ? </a:t>
            </a:r>
            <a:r>
              <a:rPr lang="en-US" dirty="0">
                <a:solidFill>
                  <a:srgbClr val="00B050"/>
                </a:solidFill>
              </a:rPr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39310042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5630885-2E5C-724A-AFDF-BD4D0BDEB71A}"/>
              </a:ext>
            </a:extLst>
          </p:cNvPr>
          <p:cNvSpPr txBox="1"/>
          <p:nvPr/>
        </p:nvSpPr>
        <p:spPr>
          <a:xfrm>
            <a:off x="98188" y="1427013"/>
            <a:ext cx="82038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1500" dirty="0">
                <a:solidFill>
                  <a:schemeClr val="tx1"/>
                </a:solidFill>
              </a:rPr>
              <a:t>Example : From input layer to the first hidden layer.</a:t>
            </a:r>
          </a:p>
        </p:txBody>
      </p:sp>
      <p:sp>
        <p:nvSpPr>
          <p:cNvPr id="4" name="Google Shape;105;p20">
            <a:extLst>
              <a:ext uri="{FF2B5EF4-FFF2-40B4-BE49-F238E27FC236}">
                <a16:creationId xmlns:a16="http://schemas.microsoft.com/office/drawing/2014/main" id="{4667A93C-49EA-8B45-9B29-30FAF54FB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convolution (conv) layer</a:t>
            </a:r>
            <a:endParaRPr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730513F-C7CC-D745-A659-6085C7159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90" y="2938263"/>
            <a:ext cx="964571" cy="126649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F4AFB32-AD81-CE4D-AEE0-C1D4EE30A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5222" y="2055901"/>
            <a:ext cx="679873" cy="32897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9D85D3E-9210-6E47-9F15-0DC2221281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8585" y="2462656"/>
            <a:ext cx="433145" cy="42766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531471C-0DB6-6840-A7A2-5F4BDE5AD9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1358" y="2937406"/>
            <a:ext cx="767598" cy="416696"/>
          </a:xfrm>
          <a:prstGeom prst="rect">
            <a:avLst/>
          </a:prstGeom>
        </p:spPr>
      </p:pic>
      <p:pic>
        <p:nvPicPr>
          <p:cNvPr id="24" name="Picture 23" descr="A black rectangle with a white background&#10;&#10;Description automatically generated with low confidence">
            <a:extLst>
              <a:ext uri="{FF2B5EF4-FFF2-40B4-BE49-F238E27FC236}">
                <a16:creationId xmlns:a16="http://schemas.microsoft.com/office/drawing/2014/main" id="{8EAF5199-1F1F-4D48-8734-388884ECFA9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8845" y="3556676"/>
            <a:ext cx="356385" cy="520870"/>
          </a:xfrm>
          <a:prstGeom prst="rect">
            <a:avLst/>
          </a:prstGeom>
        </p:spPr>
      </p:pic>
      <p:pic>
        <p:nvPicPr>
          <p:cNvPr id="28" name="Picture 27" descr="A black letter on a white background&#10;&#10;Description automatically generated with low confidence">
            <a:extLst>
              <a:ext uri="{FF2B5EF4-FFF2-40B4-BE49-F238E27FC236}">
                <a16:creationId xmlns:a16="http://schemas.microsoft.com/office/drawing/2014/main" id="{8C1E5566-0E98-C745-BDCF-4B9E2CCEEDC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6488" y="4086254"/>
            <a:ext cx="356385" cy="455076"/>
          </a:xfrm>
          <a:prstGeom prst="rect">
            <a:avLst/>
          </a:prstGeom>
        </p:spPr>
      </p:pic>
      <p:pic>
        <p:nvPicPr>
          <p:cNvPr id="30" name="Picture 29" descr="A picture containing worm&#10;&#10;Description automatically generated">
            <a:extLst>
              <a:ext uri="{FF2B5EF4-FFF2-40B4-BE49-F238E27FC236}">
                <a16:creationId xmlns:a16="http://schemas.microsoft.com/office/drawing/2014/main" id="{591DA350-D940-F941-8917-4A6497C09F3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41358" y="4685475"/>
            <a:ext cx="646976" cy="361868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8F69E88-91A2-5346-B7E7-34AEAA19D193}"/>
              </a:ext>
            </a:extLst>
          </p:cNvPr>
          <p:cNvCxnSpPr>
            <a:cxnSpLocks/>
            <a:stCxn id="10" idx="3"/>
            <a:endCxn id="15" idx="1"/>
          </p:cNvCxnSpPr>
          <p:nvPr/>
        </p:nvCxnSpPr>
        <p:spPr>
          <a:xfrm flipV="1">
            <a:off x="1466661" y="2220387"/>
            <a:ext cx="1218561" cy="13511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9A58E08-FB4C-E94A-9960-83DC645E71B7}"/>
              </a:ext>
            </a:extLst>
          </p:cNvPr>
          <p:cNvCxnSpPr>
            <a:cxnSpLocks/>
            <a:stCxn id="10" idx="3"/>
            <a:endCxn id="18" idx="1"/>
          </p:cNvCxnSpPr>
          <p:nvPr/>
        </p:nvCxnSpPr>
        <p:spPr>
          <a:xfrm flipV="1">
            <a:off x="1466661" y="2676487"/>
            <a:ext cx="1341924" cy="895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6F6E47A-216B-804F-A10D-E95AF51D071E}"/>
              </a:ext>
            </a:extLst>
          </p:cNvPr>
          <p:cNvCxnSpPr>
            <a:cxnSpLocks/>
            <a:stCxn id="10" idx="3"/>
            <a:endCxn id="21" idx="1"/>
          </p:cNvCxnSpPr>
          <p:nvPr/>
        </p:nvCxnSpPr>
        <p:spPr>
          <a:xfrm flipV="1">
            <a:off x="1466661" y="3145754"/>
            <a:ext cx="1174697" cy="4257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652A9C6-41AE-FA42-AD4C-4FF10586E4B4}"/>
              </a:ext>
            </a:extLst>
          </p:cNvPr>
          <p:cNvCxnSpPr>
            <a:cxnSpLocks/>
            <a:stCxn id="10" idx="3"/>
            <a:endCxn id="24" idx="1"/>
          </p:cNvCxnSpPr>
          <p:nvPr/>
        </p:nvCxnSpPr>
        <p:spPr>
          <a:xfrm>
            <a:off x="1466661" y="3571508"/>
            <a:ext cx="1462184" cy="2456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A21B457-6D7D-7240-9802-0A0624D22DE6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>
            <a:off x="1466661" y="3571508"/>
            <a:ext cx="1449827" cy="742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DDB1374-F747-4648-ABAE-A8E2E265E44B}"/>
              </a:ext>
            </a:extLst>
          </p:cNvPr>
          <p:cNvCxnSpPr>
            <a:cxnSpLocks/>
            <a:stCxn id="10" idx="3"/>
            <a:endCxn id="30" idx="1"/>
          </p:cNvCxnSpPr>
          <p:nvPr/>
        </p:nvCxnSpPr>
        <p:spPr>
          <a:xfrm>
            <a:off x="1466661" y="3571508"/>
            <a:ext cx="1174697" cy="12949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25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5630885-2E5C-724A-AFDF-BD4D0BDEB71A}"/>
              </a:ext>
            </a:extLst>
          </p:cNvPr>
          <p:cNvSpPr txBox="1"/>
          <p:nvPr/>
        </p:nvSpPr>
        <p:spPr>
          <a:xfrm>
            <a:off x="98188" y="1427013"/>
            <a:ext cx="82038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1500" dirty="0">
                <a:solidFill>
                  <a:schemeClr val="tx1"/>
                </a:solidFill>
              </a:rPr>
              <a:t>Example : From input layer to the first hidden layer.</a:t>
            </a:r>
          </a:p>
        </p:txBody>
      </p:sp>
      <p:sp>
        <p:nvSpPr>
          <p:cNvPr id="4" name="Google Shape;105;p20">
            <a:extLst>
              <a:ext uri="{FF2B5EF4-FFF2-40B4-BE49-F238E27FC236}">
                <a16:creationId xmlns:a16="http://schemas.microsoft.com/office/drawing/2014/main" id="{4667A93C-49EA-8B45-9B29-30FAF54FB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convolution (conv) layer</a:t>
            </a:r>
            <a:endParaRPr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730513F-C7CC-D745-A659-6085C7159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90" y="2938263"/>
            <a:ext cx="964571" cy="126649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F4AFB32-AD81-CE4D-AEE0-C1D4EE30A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5222" y="2055901"/>
            <a:ext cx="679873" cy="32897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9D85D3E-9210-6E47-9F15-0DC2221281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8585" y="2462656"/>
            <a:ext cx="433145" cy="42766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531471C-0DB6-6840-A7A2-5F4BDE5AD9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1358" y="2937406"/>
            <a:ext cx="767598" cy="416696"/>
          </a:xfrm>
          <a:prstGeom prst="rect">
            <a:avLst/>
          </a:prstGeom>
        </p:spPr>
      </p:pic>
      <p:pic>
        <p:nvPicPr>
          <p:cNvPr id="24" name="Picture 23" descr="A black rectangle with a white background&#10;&#10;Description automatically generated with low confidence">
            <a:extLst>
              <a:ext uri="{FF2B5EF4-FFF2-40B4-BE49-F238E27FC236}">
                <a16:creationId xmlns:a16="http://schemas.microsoft.com/office/drawing/2014/main" id="{8EAF5199-1F1F-4D48-8734-388884ECFA9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8845" y="3556676"/>
            <a:ext cx="356385" cy="520870"/>
          </a:xfrm>
          <a:prstGeom prst="rect">
            <a:avLst/>
          </a:prstGeom>
        </p:spPr>
      </p:pic>
      <p:pic>
        <p:nvPicPr>
          <p:cNvPr id="28" name="Picture 27" descr="A black letter on a white background&#10;&#10;Description automatically generated with low confidence">
            <a:extLst>
              <a:ext uri="{FF2B5EF4-FFF2-40B4-BE49-F238E27FC236}">
                <a16:creationId xmlns:a16="http://schemas.microsoft.com/office/drawing/2014/main" id="{8C1E5566-0E98-C745-BDCF-4B9E2CCEEDC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6488" y="4086254"/>
            <a:ext cx="356385" cy="455076"/>
          </a:xfrm>
          <a:prstGeom prst="rect">
            <a:avLst/>
          </a:prstGeom>
        </p:spPr>
      </p:pic>
      <p:pic>
        <p:nvPicPr>
          <p:cNvPr id="30" name="Picture 29" descr="A picture containing worm&#10;&#10;Description automatically generated">
            <a:extLst>
              <a:ext uri="{FF2B5EF4-FFF2-40B4-BE49-F238E27FC236}">
                <a16:creationId xmlns:a16="http://schemas.microsoft.com/office/drawing/2014/main" id="{591DA350-D940-F941-8917-4A6497C09F3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41358" y="4685475"/>
            <a:ext cx="646976" cy="361868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8F69E88-91A2-5346-B7E7-34AEAA19D193}"/>
              </a:ext>
            </a:extLst>
          </p:cNvPr>
          <p:cNvCxnSpPr>
            <a:cxnSpLocks/>
            <a:stCxn id="10" idx="3"/>
            <a:endCxn id="15" idx="1"/>
          </p:cNvCxnSpPr>
          <p:nvPr/>
        </p:nvCxnSpPr>
        <p:spPr>
          <a:xfrm flipV="1">
            <a:off x="1466661" y="2220387"/>
            <a:ext cx="1218561" cy="13511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9A58E08-FB4C-E94A-9960-83DC645E71B7}"/>
              </a:ext>
            </a:extLst>
          </p:cNvPr>
          <p:cNvCxnSpPr>
            <a:cxnSpLocks/>
            <a:stCxn id="10" idx="3"/>
            <a:endCxn id="18" idx="1"/>
          </p:cNvCxnSpPr>
          <p:nvPr/>
        </p:nvCxnSpPr>
        <p:spPr>
          <a:xfrm flipV="1">
            <a:off x="1466661" y="2676487"/>
            <a:ext cx="1341924" cy="895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6F6E47A-216B-804F-A10D-E95AF51D071E}"/>
              </a:ext>
            </a:extLst>
          </p:cNvPr>
          <p:cNvCxnSpPr>
            <a:cxnSpLocks/>
            <a:stCxn id="10" idx="3"/>
            <a:endCxn id="21" idx="1"/>
          </p:cNvCxnSpPr>
          <p:nvPr/>
        </p:nvCxnSpPr>
        <p:spPr>
          <a:xfrm flipV="1">
            <a:off x="1466661" y="3145754"/>
            <a:ext cx="1174697" cy="4257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652A9C6-41AE-FA42-AD4C-4FF10586E4B4}"/>
              </a:ext>
            </a:extLst>
          </p:cNvPr>
          <p:cNvCxnSpPr>
            <a:cxnSpLocks/>
            <a:stCxn id="10" idx="3"/>
            <a:endCxn id="24" idx="1"/>
          </p:cNvCxnSpPr>
          <p:nvPr/>
        </p:nvCxnSpPr>
        <p:spPr>
          <a:xfrm>
            <a:off x="1466661" y="3571508"/>
            <a:ext cx="1462184" cy="2456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A21B457-6D7D-7240-9802-0A0624D22DE6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>
            <a:off x="1466661" y="3571508"/>
            <a:ext cx="1449827" cy="742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DDB1374-F747-4648-ABAE-A8E2E265E44B}"/>
              </a:ext>
            </a:extLst>
          </p:cNvPr>
          <p:cNvCxnSpPr>
            <a:cxnSpLocks/>
            <a:stCxn id="10" idx="3"/>
            <a:endCxn id="30" idx="1"/>
          </p:cNvCxnSpPr>
          <p:nvPr/>
        </p:nvCxnSpPr>
        <p:spPr>
          <a:xfrm>
            <a:off x="1466661" y="3571508"/>
            <a:ext cx="1174697" cy="12949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Picture 49">
            <a:extLst>
              <a:ext uri="{FF2B5EF4-FFF2-40B4-BE49-F238E27FC236}">
                <a16:creationId xmlns:a16="http://schemas.microsoft.com/office/drawing/2014/main" id="{839DFFCE-97B7-1444-BC2D-9DB680ACDFE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67279" y="2017857"/>
            <a:ext cx="1332115" cy="866932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052D25EE-307F-5048-8AF4-27603C944C2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52135" y="3107828"/>
            <a:ext cx="412313" cy="897695"/>
          </a:xfrm>
          <a:prstGeom prst="rect">
            <a:avLst/>
          </a:prstGeom>
        </p:spPr>
      </p:pic>
      <p:pic>
        <p:nvPicPr>
          <p:cNvPr id="54" name="Picture 53" descr="A picture containing worm&#10;&#10;Description automatically generated">
            <a:extLst>
              <a:ext uri="{FF2B5EF4-FFF2-40B4-BE49-F238E27FC236}">
                <a16:creationId xmlns:a16="http://schemas.microsoft.com/office/drawing/2014/main" id="{97E081B0-5646-A348-88E8-6AE0AAE278B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76240" y="4457936"/>
            <a:ext cx="840143" cy="455077"/>
          </a:xfrm>
          <a:prstGeom prst="rect">
            <a:avLst/>
          </a:prstGeom>
        </p:spPr>
      </p:pic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F158242-0100-3040-8525-0D5C76078F94}"/>
              </a:ext>
            </a:extLst>
          </p:cNvPr>
          <p:cNvCxnSpPr>
            <a:cxnSpLocks/>
            <a:stCxn id="15" idx="3"/>
            <a:endCxn id="50" idx="1"/>
          </p:cNvCxnSpPr>
          <p:nvPr/>
        </p:nvCxnSpPr>
        <p:spPr>
          <a:xfrm>
            <a:off x="3365095" y="2220387"/>
            <a:ext cx="1402184" cy="2309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8164D375-5398-AE4D-B02D-CE35881E6B67}"/>
              </a:ext>
            </a:extLst>
          </p:cNvPr>
          <p:cNvCxnSpPr>
            <a:cxnSpLocks/>
            <a:stCxn id="18" idx="3"/>
            <a:endCxn id="50" idx="1"/>
          </p:cNvCxnSpPr>
          <p:nvPr/>
        </p:nvCxnSpPr>
        <p:spPr>
          <a:xfrm flipV="1">
            <a:off x="3241730" y="2451323"/>
            <a:ext cx="1525549" cy="2251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9E9F3D11-C83F-114C-BBF2-8C481D05BE5F}"/>
              </a:ext>
            </a:extLst>
          </p:cNvPr>
          <p:cNvCxnSpPr>
            <a:cxnSpLocks/>
            <a:stCxn id="21" idx="3"/>
            <a:endCxn id="50" idx="1"/>
          </p:cNvCxnSpPr>
          <p:nvPr/>
        </p:nvCxnSpPr>
        <p:spPr>
          <a:xfrm flipV="1">
            <a:off x="3408956" y="2451323"/>
            <a:ext cx="1358323" cy="6944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0C27E0BD-EB21-3343-95E7-B9BEFB3C7D7C}"/>
              </a:ext>
            </a:extLst>
          </p:cNvPr>
          <p:cNvCxnSpPr>
            <a:cxnSpLocks/>
            <a:stCxn id="24" idx="3"/>
            <a:endCxn id="52" idx="1"/>
          </p:cNvCxnSpPr>
          <p:nvPr/>
        </p:nvCxnSpPr>
        <p:spPr>
          <a:xfrm flipV="1">
            <a:off x="3285230" y="3556676"/>
            <a:ext cx="1966905" cy="2604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4E337FE9-8B57-D249-9697-C55E9B156156}"/>
              </a:ext>
            </a:extLst>
          </p:cNvPr>
          <p:cNvCxnSpPr>
            <a:cxnSpLocks/>
            <a:stCxn id="28" idx="3"/>
            <a:endCxn id="52" idx="1"/>
          </p:cNvCxnSpPr>
          <p:nvPr/>
        </p:nvCxnSpPr>
        <p:spPr>
          <a:xfrm flipV="1">
            <a:off x="3272873" y="3556676"/>
            <a:ext cx="1979262" cy="7571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8582A41-619F-5C4B-B26A-CAB1B4B3434A}"/>
              </a:ext>
            </a:extLst>
          </p:cNvPr>
          <p:cNvCxnSpPr>
            <a:cxnSpLocks/>
            <a:stCxn id="30" idx="3"/>
            <a:endCxn id="54" idx="1"/>
          </p:cNvCxnSpPr>
          <p:nvPr/>
        </p:nvCxnSpPr>
        <p:spPr>
          <a:xfrm flipV="1">
            <a:off x="3288334" y="4685475"/>
            <a:ext cx="1787906" cy="1809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18718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5630885-2E5C-724A-AFDF-BD4D0BDEB71A}"/>
              </a:ext>
            </a:extLst>
          </p:cNvPr>
          <p:cNvSpPr txBox="1"/>
          <p:nvPr/>
        </p:nvSpPr>
        <p:spPr>
          <a:xfrm>
            <a:off x="98188" y="1427013"/>
            <a:ext cx="82038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1500" dirty="0">
                <a:solidFill>
                  <a:schemeClr val="tx1"/>
                </a:solidFill>
              </a:rPr>
              <a:t>Example : From input layer to the first hidden layer.</a:t>
            </a:r>
          </a:p>
        </p:txBody>
      </p:sp>
      <p:sp>
        <p:nvSpPr>
          <p:cNvPr id="4" name="Google Shape;105;p20">
            <a:extLst>
              <a:ext uri="{FF2B5EF4-FFF2-40B4-BE49-F238E27FC236}">
                <a16:creationId xmlns:a16="http://schemas.microsoft.com/office/drawing/2014/main" id="{4667A93C-49EA-8B45-9B29-30FAF54FB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convolution (conv) layer</a:t>
            </a:r>
            <a:endParaRPr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730513F-C7CC-D745-A659-6085C7159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90" y="2938263"/>
            <a:ext cx="964571" cy="126649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F4AFB32-AD81-CE4D-AEE0-C1D4EE30A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5222" y="2055901"/>
            <a:ext cx="679873" cy="32897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9D85D3E-9210-6E47-9F15-0DC2221281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8585" y="2462656"/>
            <a:ext cx="433145" cy="42766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531471C-0DB6-6840-A7A2-5F4BDE5AD9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1358" y="2937406"/>
            <a:ext cx="767598" cy="416696"/>
          </a:xfrm>
          <a:prstGeom prst="rect">
            <a:avLst/>
          </a:prstGeom>
        </p:spPr>
      </p:pic>
      <p:pic>
        <p:nvPicPr>
          <p:cNvPr id="24" name="Picture 23" descr="A black rectangle with a white background&#10;&#10;Description automatically generated with low confidence">
            <a:extLst>
              <a:ext uri="{FF2B5EF4-FFF2-40B4-BE49-F238E27FC236}">
                <a16:creationId xmlns:a16="http://schemas.microsoft.com/office/drawing/2014/main" id="{8EAF5199-1F1F-4D48-8734-388884ECFA9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8845" y="3556676"/>
            <a:ext cx="356385" cy="520870"/>
          </a:xfrm>
          <a:prstGeom prst="rect">
            <a:avLst/>
          </a:prstGeom>
        </p:spPr>
      </p:pic>
      <p:pic>
        <p:nvPicPr>
          <p:cNvPr id="28" name="Picture 27" descr="A black letter on a white background&#10;&#10;Description automatically generated with low confidence">
            <a:extLst>
              <a:ext uri="{FF2B5EF4-FFF2-40B4-BE49-F238E27FC236}">
                <a16:creationId xmlns:a16="http://schemas.microsoft.com/office/drawing/2014/main" id="{8C1E5566-0E98-C745-BDCF-4B9E2CCEEDC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6488" y="4086254"/>
            <a:ext cx="356385" cy="455076"/>
          </a:xfrm>
          <a:prstGeom prst="rect">
            <a:avLst/>
          </a:prstGeom>
        </p:spPr>
      </p:pic>
      <p:pic>
        <p:nvPicPr>
          <p:cNvPr id="30" name="Picture 29" descr="A picture containing worm&#10;&#10;Description automatically generated">
            <a:extLst>
              <a:ext uri="{FF2B5EF4-FFF2-40B4-BE49-F238E27FC236}">
                <a16:creationId xmlns:a16="http://schemas.microsoft.com/office/drawing/2014/main" id="{591DA350-D940-F941-8917-4A6497C09F3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41358" y="4685475"/>
            <a:ext cx="646976" cy="361868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8F69E88-91A2-5346-B7E7-34AEAA19D193}"/>
              </a:ext>
            </a:extLst>
          </p:cNvPr>
          <p:cNvCxnSpPr>
            <a:cxnSpLocks/>
            <a:stCxn id="10" idx="3"/>
            <a:endCxn id="15" idx="1"/>
          </p:cNvCxnSpPr>
          <p:nvPr/>
        </p:nvCxnSpPr>
        <p:spPr>
          <a:xfrm flipV="1">
            <a:off x="1466661" y="2220387"/>
            <a:ext cx="1218561" cy="13511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9A58E08-FB4C-E94A-9960-83DC645E71B7}"/>
              </a:ext>
            </a:extLst>
          </p:cNvPr>
          <p:cNvCxnSpPr>
            <a:cxnSpLocks/>
            <a:stCxn id="10" idx="3"/>
            <a:endCxn id="18" idx="1"/>
          </p:cNvCxnSpPr>
          <p:nvPr/>
        </p:nvCxnSpPr>
        <p:spPr>
          <a:xfrm flipV="1">
            <a:off x="1466661" y="2676487"/>
            <a:ext cx="1341924" cy="895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6F6E47A-216B-804F-A10D-E95AF51D071E}"/>
              </a:ext>
            </a:extLst>
          </p:cNvPr>
          <p:cNvCxnSpPr>
            <a:cxnSpLocks/>
            <a:stCxn id="10" idx="3"/>
            <a:endCxn id="21" idx="1"/>
          </p:cNvCxnSpPr>
          <p:nvPr/>
        </p:nvCxnSpPr>
        <p:spPr>
          <a:xfrm flipV="1">
            <a:off x="1466661" y="3145754"/>
            <a:ext cx="1174697" cy="4257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652A9C6-41AE-FA42-AD4C-4FF10586E4B4}"/>
              </a:ext>
            </a:extLst>
          </p:cNvPr>
          <p:cNvCxnSpPr>
            <a:cxnSpLocks/>
            <a:stCxn id="10" idx="3"/>
            <a:endCxn id="24" idx="1"/>
          </p:cNvCxnSpPr>
          <p:nvPr/>
        </p:nvCxnSpPr>
        <p:spPr>
          <a:xfrm>
            <a:off x="1466661" y="3571508"/>
            <a:ext cx="1462184" cy="2456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A21B457-6D7D-7240-9802-0A0624D22DE6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>
            <a:off x="1466661" y="3571508"/>
            <a:ext cx="1449827" cy="742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DDB1374-F747-4648-ABAE-A8E2E265E44B}"/>
              </a:ext>
            </a:extLst>
          </p:cNvPr>
          <p:cNvCxnSpPr>
            <a:cxnSpLocks/>
            <a:stCxn id="10" idx="3"/>
            <a:endCxn id="30" idx="1"/>
          </p:cNvCxnSpPr>
          <p:nvPr/>
        </p:nvCxnSpPr>
        <p:spPr>
          <a:xfrm>
            <a:off x="1466661" y="3571508"/>
            <a:ext cx="1174697" cy="12949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Picture 49">
            <a:extLst>
              <a:ext uri="{FF2B5EF4-FFF2-40B4-BE49-F238E27FC236}">
                <a16:creationId xmlns:a16="http://schemas.microsoft.com/office/drawing/2014/main" id="{839DFFCE-97B7-1444-BC2D-9DB680ACDFE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67279" y="2017857"/>
            <a:ext cx="1332115" cy="866932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052D25EE-307F-5048-8AF4-27603C944C2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52135" y="3107828"/>
            <a:ext cx="412313" cy="897695"/>
          </a:xfrm>
          <a:prstGeom prst="rect">
            <a:avLst/>
          </a:prstGeom>
        </p:spPr>
      </p:pic>
      <p:pic>
        <p:nvPicPr>
          <p:cNvPr id="54" name="Picture 53" descr="A picture containing worm&#10;&#10;Description automatically generated">
            <a:extLst>
              <a:ext uri="{FF2B5EF4-FFF2-40B4-BE49-F238E27FC236}">
                <a16:creationId xmlns:a16="http://schemas.microsoft.com/office/drawing/2014/main" id="{97E081B0-5646-A348-88E8-6AE0AAE278B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76240" y="4457936"/>
            <a:ext cx="840143" cy="455077"/>
          </a:xfrm>
          <a:prstGeom prst="rect">
            <a:avLst/>
          </a:prstGeom>
        </p:spPr>
      </p:pic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F158242-0100-3040-8525-0D5C76078F94}"/>
              </a:ext>
            </a:extLst>
          </p:cNvPr>
          <p:cNvCxnSpPr>
            <a:cxnSpLocks/>
            <a:stCxn id="15" idx="3"/>
            <a:endCxn id="50" idx="1"/>
          </p:cNvCxnSpPr>
          <p:nvPr/>
        </p:nvCxnSpPr>
        <p:spPr>
          <a:xfrm>
            <a:off x="3365095" y="2220387"/>
            <a:ext cx="1402184" cy="2309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8164D375-5398-AE4D-B02D-CE35881E6B67}"/>
              </a:ext>
            </a:extLst>
          </p:cNvPr>
          <p:cNvCxnSpPr>
            <a:cxnSpLocks/>
            <a:stCxn id="18" idx="3"/>
            <a:endCxn id="50" idx="1"/>
          </p:cNvCxnSpPr>
          <p:nvPr/>
        </p:nvCxnSpPr>
        <p:spPr>
          <a:xfrm flipV="1">
            <a:off x="3241730" y="2451323"/>
            <a:ext cx="1525549" cy="2251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9E9F3D11-C83F-114C-BBF2-8C481D05BE5F}"/>
              </a:ext>
            </a:extLst>
          </p:cNvPr>
          <p:cNvCxnSpPr>
            <a:cxnSpLocks/>
            <a:stCxn id="21" idx="3"/>
            <a:endCxn id="50" idx="1"/>
          </p:cNvCxnSpPr>
          <p:nvPr/>
        </p:nvCxnSpPr>
        <p:spPr>
          <a:xfrm flipV="1">
            <a:off x="3408956" y="2451323"/>
            <a:ext cx="1358323" cy="6944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0C27E0BD-EB21-3343-95E7-B9BEFB3C7D7C}"/>
              </a:ext>
            </a:extLst>
          </p:cNvPr>
          <p:cNvCxnSpPr>
            <a:cxnSpLocks/>
            <a:stCxn id="24" idx="3"/>
            <a:endCxn id="52" idx="1"/>
          </p:cNvCxnSpPr>
          <p:nvPr/>
        </p:nvCxnSpPr>
        <p:spPr>
          <a:xfrm flipV="1">
            <a:off x="3285230" y="3556676"/>
            <a:ext cx="1966905" cy="2604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4E337FE9-8B57-D249-9697-C55E9B156156}"/>
              </a:ext>
            </a:extLst>
          </p:cNvPr>
          <p:cNvCxnSpPr>
            <a:cxnSpLocks/>
            <a:stCxn id="28" idx="3"/>
            <a:endCxn id="52" idx="1"/>
          </p:cNvCxnSpPr>
          <p:nvPr/>
        </p:nvCxnSpPr>
        <p:spPr>
          <a:xfrm flipV="1">
            <a:off x="3272873" y="3556676"/>
            <a:ext cx="1979262" cy="7571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8582A41-619F-5C4B-B26A-CAB1B4B3434A}"/>
              </a:ext>
            </a:extLst>
          </p:cNvPr>
          <p:cNvCxnSpPr>
            <a:cxnSpLocks/>
            <a:stCxn id="30" idx="3"/>
            <a:endCxn id="54" idx="1"/>
          </p:cNvCxnSpPr>
          <p:nvPr/>
        </p:nvCxnSpPr>
        <p:spPr>
          <a:xfrm flipV="1">
            <a:off x="3288334" y="4685475"/>
            <a:ext cx="1787906" cy="1809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709DF139-6326-6A4A-9407-DCE43288D5BD}"/>
              </a:ext>
            </a:extLst>
          </p:cNvPr>
          <p:cNvSpPr txBox="1"/>
          <p:nvPr/>
        </p:nvSpPr>
        <p:spPr>
          <a:xfrm>
            <a:off x="6821349" y="2596852"/>
            <a:ext cx="148067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8000" dirty="0">
                <a:solidFill>
                  <a:srgbClr val="00B050"/>
                </a:solidFill>
              </a:rPr>
              <a:t>9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523BBBDF-09B0-624A-AD31-CE4F5A2B4328}"/>
              </a:ext>
            </a:extLst>
          </p:cNvPr>
          <p:cNvCxnSpPr>
            <a:cxnSpLocks/>
            <a:stCxn id="50" idx="3"/>
          </p:cNvCxnSpPr>
          <p:nvPr/>
        </p:nvCxnSpPr>
        <p:spPr>
          <a:xfrm>
            <a:off x="6099394" y="2451323"/>
            <a:ext cx="1224859" cy="6944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D4477BE4-3FF2-674C-AE32-B36A334F89FB}"/>
              </a:ext>
            </a:extLst>
          </p:cNvPr>
          <p:cNvCxnSpPr>
            <a:cxnSpLocks/>
            <a:stCxn id="52" idx="3"/>
          </p:cNvCxnSpPr>
          <p:nvPr/>
        </p:nvCxnSpPr>
        <p:spPr>
          <a:xfrm flipV="1">
            <a:off x="5664448" y="3232087"/>
            <a:ext cx="1659805" cy="324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0022B526-9FAD-2C40-B73C-C251DE7E869D}"/>
              </a:ext>
            </a:extLst>
          </p:cNvPr>
          <p:cNvCxnSpPr>
            <a:cxnSpLocks/>
            <a:stCxn id="54" idx="3"/>
          </p:cNvCxnSpPr>
          <p:nvPr/>
        </p:nvCxnSpPr>
        <p:spPr>
          <a:xfrm flipV="1">
            <a:off x="5916383" y="3362036"/>
            <a:ext cx="1407870" cy="1323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42167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6F7E168-6BEF-D743-8BE5-F3707B54BA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276633" y="1472509"/>
            <a:ext cx="6590734" cy="29801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DF0C35C-1F26-8049-BFCB-E59D917A11C4}"/>
              </a:ext>
            </a:extLst>
          </p:cNvPr>
          <p:cNvSpPr txBox="1"/>
          <p:nvPr/>
        </p:nvSpPr>
        <p:spPr>
          <a:xfrm>
            <a:off x="2381250" y="4880792"/>
            <a:ext cx="4381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hlinkClick r:id="rId4" tooltip="http://www.davidsbatista.net/blog/2018/03/31/SentenceClassificationConvNets/"/>
              </a:rPr>
              <a:t>This Photo</a:t>
            </a:r>
            <a:r>
              <a:rPr lang="en-US" sz="900" dirty="0"/>
              <a:t> by Unknown Author is licensed under </a:t>
            </a:r>
            <a:r>
              <a:rPr lang="en-US" sz="900" dirty="0">
                <a:hlinkClick r:id="rId5" tooltip="https://creativecommons.org/licenses/by-nc-sa/3.0/"/>
              </a:rPr>
              <a:t>CC BY-SA-NC</a:t>
            </a:r>
            <a:endParaRPr lang="en-US" sz="900" dirty="0"/>
          </a:p>
        </p:txBody>
      </p:sp>
      <p:sp>
        <p:nvSpPr>
          <p:cNvPr id="9" name="Google Shape;105;p20">
            <a:extLst>
              <a:ext uri="{FF2B5EF4-FFF2-40B4-BE49-F238E27FC236}">
                <a16:creationId xmlns:a16="http://schemas.microsoft.com/office/drawing/2014/main" id="{48DC9006-9169-8341-8207-239ADFFC1D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convolution (conv) layer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844283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5;p20">
            <a:extLst>
              <a:ext uri="{FF2B5EF4-FFF2-40B4-BE49-F238E27FC236}">
                <a16:creationId xmlns:a16="http://schemas.microsoft.com/office/drawing/2014/main" id="{48DC9006-9169-8341-8207-239ADFFC1D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convolution (conv) layer</a:t>
            </a:r>
            <a:endParaRPr dirty="0"/>
          </a:p>
        </p:txBody>
      </p:sp>
      <p:pic>
        <p:nvPicPr>
          <p:cNvPr id="5" name="Picture 4" descr="Diagram, schematic&#10;&#10;Description automatically generated">
            <a:extLst>
              <a:ext uri="{FF2B5EF4-FFF2-40B4-BE49-F238E27FC236}">
                <a16:creationId xmlns:a16="http://schemas.microsoft.com/office/drawing/2014/main" id="{F9B7F68F-D728-9B48-81B9-A0524E5716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92793" y="1307087"/>
            <a:ext cx="5943600" cy="3086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792CF9D-389C-BF47-9E07-EA5473F3773D}"/>
              </a:ext>
            </a:extLst>
          </p:cNvPr>
          <p:cNvSpPr txBox="1"/>
          <p:nvPr/>
        </p:nvSpPr>
        <p:spPr>
          <a:xfrm>
            <a:off x="2556359" y="4912668"/>
            <a:ext cx="34518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hlinkClick r:id="rId4" tooltip="https://www.frontiersin.org/articles/10.3389/fnins.2018.00777/full"/>
              </a:rPr>
              <a:t>This Photo</a:t>
            </a:r>
            <a:r>
              <a:rPr lang="en-US" sz="900" dirty="0"/>
              <a:t> by Unknown Author is licensed under </a:t>
            </a:r>
            <a:r>
              <a:rPr lang="en-US" sz="900" dirty="0">
                <a:hlinkClick r:id="rId5" tooltip="https://creativecommons.org/licenses/by/3.0/"/>
              </a:rPr>
              <a:t>CC BY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5345174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5;p20">
            <a:extLst>
              <a:ext uri="{FF2B5EF4-FFF2-40B4-BE49-F238E27FC236}">
                <a16:creationId xmlns:a16="http://schemas.microsoft.com/office/drawing/2014/main" id="{48DC9006-9169-8341-8207-239ADFFC1D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Subsampling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5778876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{48A30F21-8F0B-B94D-97E2-AEFBCB789EE9}tf10001070</Template>
  <TotalTime>1152</TotalTime>
  <Words>762</Words>
  <Application>Microsoft Macintosh PowerPoint</Application>
  <PresentationFormat>On-screen Show (16:9)</PresentationFormat>
  <Paragraphs>140</Paragraphs>
  <Slides>26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Rockwell Extra Bold</vt:lpstr>
      <vt:lpstr>Calibri</vt:lpstr>
      <vt:lpstr>Rockwell</vt:lpstr>
      <vt:lpstr>Arial</vt:lpstr>
      <vt:lpstr>Wingdings</vt:lpstr>
      <vt:lpstr>Rockwell Condensed</vt:lpstr>
      <vt:lpstr>Wood Type</vt:lpstr>
      <vt:lpstr>PowerPoint Presentation</vt:lpstr>
      <vt:lpstr>Overview</vt:lpstr>
      <vt:lpstr>Problem in nutshell</vt:lpstr>
      <vt:lpstr>PowerPoint Presentation</vt:lpstr>
      <vt:lpstr>Malicious url and what they can do?</vt:lpstr>
      <vt:lpstr>Goal:</vt:lpstr>
      <vt:lpstr>Malicious url techniques: </vt:lpstr>
      <vt:lpstr>Disadvantages of current techniques:</vt:lpstr>
      <vt:lpstr>Proposed approach:</vt:lpstr>
      <vt:lpstr>Features:</vt:lpstr>
      <vt:lpstr>PowerPoint Presentation</vt:lpstr>
      <vt:lpstr>PowerPoint Presentation</vt:lpstr>
      <vt:lpstr>CNN</vt:lpstr>
      <vt:lpstr>CNN</vt:lpstr>
      <vt:lpstr>CNN</vt:lpstr>
      <vt:lpstr>convolution (conv) layer</vt:lpstr>
      <vt:lpstr>convolution (conv) layer</vt:lpstr>
      <vt:lpstr>convolution (conv) layer</vt:lpstr>
      <vt:lpstr>convolution (conv) layer</vt:lpstr>
      <vt:lpstr>convolution (conv) layer</vt:lpstr>
      <vt:lpstr>convolution (conv) layer</vt:lpstr>
      <vt:lpstr>convolution (conv) layer</vt:lpstr>
      <vt:lpstr>convolution (conv) layer</vt:lpstr>
      <vt:lpstr>convolution (conv) layer</vt:lpstr>
      <vt:lpstr>convolution (conv) layer</vt:lpstr>
      <vt:lpstr>Subsampling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Rajat Singh</cp:lastModifiedBy>
  <cp:revision>12</cp:revision>
  <dcterms:modified xsi:type="dcterms:W3CDTF">2022-03-12T06:51:27Z</dcterms:modified>
</cp:coreProperties>
</file>